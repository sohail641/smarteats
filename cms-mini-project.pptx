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2" r:id="rId6"/>
    <p:sldId id="265" r:id="rId7"/>
    <p:sldId id="267" r:id="rId8"/>
    <p:sldId id="266" r:id="rId9"/>
    <p:sldId id="264" r:id="rId10"/>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5DD33B-7137-4E32-A16C-4480867B2CB8}" v="12" dt="2025-10-14T13:26:05.80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0" d="100"/>
          <a:sy n="50" d="100"/>
        </p:scale>
        <p:origin x="946" y="3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09:44.787"/>
    </inkml:context>
    <inkml:brush xml:id="br0">
      <inkml:brushProperty name="width" value="0.035" units="cm"/>
      <inkml:brushProperty name="height" value="0.035" units="cm"/>
      <inkml:brushProperty name="color" value="#FFFFFF"/>
    </inkml:brush>
  </inkml:definitions>
  <inkml:trace contextRef="#ctx0" brushRef="#br0">0 217 24575,'18'-5'0,"-1"2"0,1 0 0,28-1 0,9 1 0,140-15 0,94-12-1838,544-51-492,11 52 3602,-806 29-1366,8 2 1091,1-2-1,85-13 1,-47 0-997,132-3 0,90 17 0,-115 2 0,86-5 0,299 5 0,-436 6 0,199 38 0,-154-19 0,-65-11 0,-30-4 0,81 15 0,-145-22 0,0 2 0,-1 0 0,0 2 0,33 18 0,-40-19 0,0 0 0,1-1 0,-1-1 0,2-1 0,-1-1 0,27 4 0,-68-10-48,-3 1-611,-46-7 1,33-3-6168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0:00.124"/>
    </inkml:context>
    <inkml:brush xml:id="br0">
      <inkml:brushProperty name="width" value="0.1" units="cm"/>
      <inkml:brushProperty name="height" value="0.1" units="cm"/>
      <inkml:brushProperty name="color" value="#FFFFFF"/>
    </inkml:brush>
  </inkml:definitions>
  <inkml:trace contextRef="#ctx0" brushRef="#br0">860 0 25773,'-860'585'0,"7113"-585"0,-7111-585 0,-3677 585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0:52.870"/>
    </inkml:context>
    <inkml:brush xml:id="br0">
      <inkml:brushProperty name="width" value="0.35" units="cm"/>
      <inkml:brushProperty name="height" value="0.35" units="cm"/>
      <inkml:brushProperty name="color" value="#FFFFFF"/>
    </inkml:brush>
  </inkml:definitions>
  <inkml:trace contextRef="#ctx0" brushRef="#br0">6253 95 4915,'-23'0'632,"-1"1"-1,-36 6 1,4 1 61,-145 18 1063,-811 132 3095,-3 39-411,347-68-2512,-5-29-417,619-94-1418,8 1 72,-1-3-1,0-1 1,-90-7-1,130 2-151,0 0 0,1 0 0,-1-1 0,1 0 0,0 0 0,0 0 0,0-1 0,0 0 0,1 0 0,-1 0 0,1-1-1,0 0 1,0 0 0,-5-8 0,-26-23-10,3 10-3,-2 1 0,-1 2 0,0 2 0,-43-18 0,43 25 0,-73-17 0,71 22 0,-69-26 0,107 35 0,-44-19 0,-73-22 0,77 28 0,-45-21 0,50 19 0,5 6 0,0 0 0,-1 2 0,1 2 0,-63-4 0,-15-3 0,-221-14 0,-5 27 0,117 2 0,188-3 0,60 0 0,3403 0 0,-3385 2 0,87 16 0,24 3 0,369-18 0,-273-5 0,474 2 0,-687 2 0,0 3 0,69 15 0,-55-8 0,-1-1 0,11 2 0,1-2 0,79 2 0,-74-9 0,105 17 0,-121-14 0,70 0 0,-16-2 0,-80-2 0,44 13 0,-46-10 0,54 7 0,-60-11-15,-4-1 23,1 0 0,0 0 0,24-4 0,-41 3-16,1-1 0,0 1 0,-1-1-1,1 0 1,-1 0 0,1 0 0,-1 0-1,1-1 1,-1 1 0,0-1 0,0 0 0,0 0-1,0 0 1,0-1 0,0 1 0,-1-1-1,1 1 1,-1-1 0,1 0 0,-1 0-1,0 0 1,0 0 0,2-5 0,-3 4-3,-1 0 1,0 1-1,0-1 1,0 1 0,0-1-1,0 1 1,-1-1-1,1 1 1,-1-1-1,0 1 1,0-1 0,-1 1-1,1 0 1,-1-1-1,1 1 1,-1 0-1,-4-5 1,-1-3 15,-1 1 1,0 1-1,-18-17 1,18 20-4,0 0 1,-1 1-1,0 0 1,0 1-1,0 0 1,0 0-1,-1 1 0,-16-4 1,18 6-14,-1-1-1,1-1 1,0 0 0,0 0-1,0 0 1,0-1 0,0 0-1,1 0 1,-1-1 0,1 0-1,1-1 1,-10-8 0,-18-30-140,23 28 139,0 1 0,-16-16 0,22 27 13,0-1 1,0 1 0,0 0 0,-1 1 0,1-1 0,-1 1 0,0 0-1,0 0 1,0 1 0,-8-2 0,-18-2 5,-1 2 1,0 1-1,0 2 0,-58 4 1,17 0 7,-1480 1 228,828-6-128,-2744 2 113,3433 0-228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17.364"/>
    </inkml:context>
    <inkml:brush xml:id="br0">
      <inkml:brushProperty name="width" value="0.35" units="cm"/>
      <inkml:brushProperty name="height" value="0.35" units="cm"/>
      <inkml:brushProperty name="color" value="#FFFFFF"/>
    </inkml:brush>
  </inkml:definitions>
  <inkml:trace contextRef="#ctx0" brushRef="#br0">3129 638 4915,'-604'0'3604,"711"-1"-2963,33 0 337,166 19 1,-266-13-720,345 41 1345,3-28-194,-254-20-770,234 4 1033,-287 7-1045,104 25 0,-117-19-191,1-3-1,94 5 1,-129-17 17,-61-4 355,-30-2-275,-52-15-903,-116-37 0,-102-50-1102,194 62 1029,-285-112-1313,209 72 1098,-4 10 0,-3 8 0,-260-44 0,390 99 940,-1 4 1,-1 4-1,-158 11 1,171 3 5,-100 24 1,-1 1 119,74-25 20,-192-7 0,133-5-65,-558 3 1249,682-3-1502,0-1 0,0-2-1,1-1 1,0-2 0,0-1 0,-41-19-1,71 26-91,0 1 1,0-1-1,0 0 0,0-1 0,0 1 0,1-1 0,0 0 0,-8-9 1,-5-9-5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08.738"/>
    </inkml:context>
    <inkml:brush xml:id="br0">
      <inkml:brushProperty name="width" value="0.35" units="cm"/>
      <inkml:brushProperty name="height" value="0.35" units="cm"/>
      <inkml:brushProperty name="color" value="#FFFFFF"/>
    </inkml:brush>
  </inkml:definitions>
  <inkml:trace contextRef="#ctx0" brushRef="#br0">450 688 4915,'14'0'347,"-1"2"1,27 5-1,0 0-8,137 19 320,-57-7 144,212 6 0,460-27 2471,-761 0-3008,0-1-1,50-12 1,31-3 349,52-5 57,-98 12-235,84-3 0,-37 15 47,-64 1-181,1-3 0,0-1 1,67-13-1,11-7 290,-81 16-229,0-2-1,75-25 1,-83 22-156,0 1 0,1 1-1,0 2 1,0 3 0,1 0 0,49 4-1,-45-2 246,71-13 0,-16 2 7,269-31 1196,-302 37-1501,108-27 1,63-33-180,-205 58 24,1 2 0,-1 1 0,54-2 0,104 8 0,-100 1 0,1169 1 0,-1197-5 0,89-16 0,45-2 0,125 20 0,-139 3 0,61 18 0,-130-8 0,-78-6 0,0 2 0,-1 1 0,0 1 0,-1 2 0,33 17 0,-54-24 0,-8-2 0,1-1 0,-1 1 0,0-1 0,-1 2 0,1-1 0,0 0 0,-1 1 0,0 0 0,0 0 0,0 0 0,0 0 0,-1 1 0,0-1 0,0 1 0,0 0 0,0 0 0,-1 0 0,1 1 0,1 9 0,-2-9 0,-1 1 0,0 0 0,-1 0 0,1 0 0,-2 0 0,1 0 0,-1 0 0,0 0 0,0 0 0,-1 0 0,0 0 0,0 0 0,0-1 0,-1 1 0,-6 9 0,3-6 0,0 0 0,-1 0 0,0-1 0,-1 0 0,0 0 0,-1-1 0,0 0 0,0 0 0,0-1 0,-1-1 0,0 1 0,-1-2 0,-18 9 0,9-7 0,0-1 0,0-1 0,-1-1 0,0 0 0,0-2 0,-39 0 0,-1509-6 0,1527 6 0,1 2 0,-44 10 0,-34 4 0,-52 4 0,95-10 0,-1-4 0,0-2 0,-89-7 0,79 0 0,-168 18 0,129 2 0,-87 16 0,-5-2 0,139-21 0,-121 3 0,-84-16 0,102-1 0,-1848 2 0,2002 1 0,0 2 0,0 1 0,-29 8 0,26-4 0,-62 5 0,-13-11 0,62-3 0,0 3 0,-84 13 0,66-4 0,-1-3 0,-67 1 0,-130-10 0,99-1 0,135 2-2,-10 0 3,-1-1 1,-41-7 0,68 7-5,-1-1 1,1-1-1,0 0 1,1 0-1,-1-1 1,0 0-1,1-1 1,0 0-1,0 0 0,1-1 1,-1 0-1,-9-10 1,13 11-32,1 0-1,0-1 1,1 1-1,-1-1 1,1 0 0,0 0-1,1 0 1,-1 0 0,1 0-1,0-1 1,1 1 0,-2-8-1,1-9-105,0-1 1,2-23-1,0 46 135,0-7-52,1 0 0,0 0 1,0 0-1,1 1 0,0-1 1,0 0-1,1 1 0,5-12 0,3 0-106,22-30-1,-22 33 71,0 0 1,0-1-1,8-20 1,67-164-625,-83 195 719,0 0 1,0 0-1,1 1 1,0-1-1,0 1 1,0 0-1,8-8 1,-10 11 0,0 1 0,1-1 1,-1 0-1,0 1 0,0 0 1,1-1-1,-1 1 0,1 0 0,-1 0 1,1 0-1,0 1 0,-1-1 1,1 0-1,0 1 0,-1 0 1,1 0-1,0 0 0,0 0 1,-1 0-1,1 0 0,4 2 0,0 1 5,0 0-1,-1 0 1,1 1 0,-1 0-1,0 0 1,0 0-1,0 1 1,-1 0-1,0 0 1,0 1-1,0-1 1,0 1-1,-1 0 1,0 0-1,0 1 1,-1-1-1,4 9 1,0 3 5,0 0 0,-1 0 1,-1 1-1,0 0 0,2 30 0,-3 34 71,-8 93-1,0-45 7,4-127-82,0 1-1,0-1 0,1 1 0,0-1 1,-1 1-1,3 5 0,-3-10-7,0 1 0,0-1 0,1 0 0,-1 0 0,0 1 0,0-1 0,0 0 0,0 1 0,1-1 0,-1 0 1,0 0-1,0 1 0,0-1 0,1 0 0,-1 0 0,0 0 0,1 1 0,-1-1 0,0 0 0,0 0 0,1 0 0,-1 0 0,0 0 0,1 1 0,-1-1 0,0 0 0,1 0 0,-1 0 0,0 0 1,1 0-1,13-13-95,-4-1 108,2 1 1,0 0-1,16-14 1,-14 15-46,-1-1 0,22-28 1,-28 33 38,1 0 0,0 0 0,0 1 0,1 0 0,0 0 1,0 1-1,1 0 0,-1 1 0,1 0 0,1 0 0,15-4 1,28-15 28,-29 13-10,0 1 0,1 2 0,-1 0-1,48-7 1,-37 9 14,57-19-1,-54 11-12,7-4 16,2 2-1,-1 2 1,97-14-1,237 23 171,-198 9-113,848-4 490,-935-5-499,104-18 0,-115 12-48,38-9 18,-63 9 16,106-5-1,242 18 122,-367-5-159,-1 0-1,52-13 1,11-1 46,79-7-25,226-24-40,5 28-23,552 23 3,-936-2 0,0 2 0,1 2 0,-2 0 0,1 2 0,-1 1 0,0 1 0,52 25 0,138 46 0,-131-51 0,-36-12 0,1-1 0,0-3 0,1-3 0,0-1 0,1-3 0,59-1 0,38-8 0,-587 3 0,-26-32 0,227 9 0,-337-6 0,4 1 0,468 22 0,14 1 0,-90-17 0,104 10 0,-72-17 0,106 20 0,-1 2 0,0 1 0,-41 1 0,-123 5 0,116 2 0,-1126 0 0,661-3 0,489-3-8,1-3 1,-1-2 0,-90-26-1,72 16-115,-810-206-3682,807 203 3554,74 19 242,-225-51 27,201 48 21,1 2 0,-1 2 0,0 1 0,0 1 0,-35 6 0,34 1 33,0 2 0,1 1 1,-60 27-1,63-23-24,0-1-1,0-2 1,-1-2 0,-53 9-1,61-15-9,0 1-1,-31 8 0,48-10-26,1 1 1,-1-1-1,1 1 0,0 0 1,0 0-1,0 0 0,0 1 0,0 0 1,1 0-1,0 1 0,0 0 1,-9 10-1,13-14-8,0 1 1,0-1-1,0 0 1,0 1-1,0-1 1,0 1-1,0 0 1,0-1-1,1 1 1,-1-1-1,1 1 1,-1 0-1,1 0 1,0-1-1,0 1 1,0 0-1,-1 0 1,2-1-1,-1 1 1,0 0-1,0 0 1,0-1-1,1 1 0,-1 0 1,1-1-1,0 1 1,-1 0-1,1-1 1,0 1-1,0-1 1,0 1-1,0-1 1,0 0-1,1 2 1,5 2 9,-1 0 1,1 0-1,0-1 1,0 0-1,0 0 1,9 2-1,12 8 30,-21-10-31,0 1 1,0 0-1,0 1 1,-1-1-1,0 1 1,0 1-1,0-1 1,-1 1-1,0 0 1,0 0-1,-1 0 1,1 1-1,-2-1 1,5 12-1,-3-2 14,-1 1 1,-1-1-1,0 1 0,-2 0 0,0 32 0,1-19 29,1 0-1,11 48 1,-7-42 14,3 44 0,-7 43 53,-3-88-114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11.513"/>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11.748"/>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12.747"/>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14.357"/>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0T09:11:20.380"/>
    </inkml:context>
    <inkml:brush xml:id="br0">
      <inkml:brushProperty name="width" value="0.35" units="cm"/>
      <inkml:brushProperty name="height" value="0.35" units="cm"/>
      <inkml:brushProperty name="color" value="#FFFFFF"/>
    </inkml:brush>
  </inkml:definitions>
  <inkml:trace contextRef="#ctx0" brushRef="#br0">0 1 4915,'0'0'0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sz="355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25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5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p:txBody>
          <a:bodyPr lIns="0" tIns="0" rIns="0" bIns="0"/>
          <a:lstStyle>
            <a:lvl1pPr>
              <a:defRPr sz="25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5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55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677907" y="606297"/>
            <a:ext cx="2029460" cy="566419"/>
          </a:xfrm>
          <a:prstGeom prst="rect">
            <a:avLst/>
          </a:prstGeom>
        </p:spPr>
        <p:txBody>
          <a:bodyPr wrap="square" lIns="0" tIns="0" rIns="0" bIns="0">
            <a:spAutoFit/>
          </a:bodyPr>
          <a:lstStyle>
            <a:lvl1pPr>
              <a:defRPr sz="355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body" idx="1"/>
          </p:nvPr>
        </p:nvSpPr>
        <p:spPr>
          <a:xfrm>
            <a:off x="1575762" y="2001519"/>
            <a:ext cx="14641194" cy="6303645"/>
          </a:xfrm>
          <a:prstGeom prst="rect">
            <a:avLst/>
          </a:prstGeom>
        </p:spPr>
        <p:txBody>
          <a:bodyPr wrap="square" lIns="0" tIns="0" rIns="0" bIns="0">
            <a:spAutoFit/>
          </a:bodyPr>
          <a:lstStyle>
            <a:lvl1pPr>
              <a:defRPr sz="2500" b="0"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11/10/2025</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6.xml"/><Relationship Id="rId18" Type="http://schemas.openxmlformats.org/officeDocument/2006/relationships/customXml" Target="../ink/ink10.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8.png"/><Relationship Id="rId17" Type="http://schemas.openxmlformats.org/officeDocument/2006/relationships/customXml" Target="../ink/ink9.xml"/><Relationship Id="rId2" Type="http://schemas.openxmlformats.org/officeDocument/2006/relationships/image" Target="../media/image3.png"/><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 Id="rId1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ijraset.com/research-paper/a-review-on-smart-canteen-management-system?utm_source=chatgpt.com" TargetMode="External"/><Relationship Id="rId2" Type="http://schemas.openxmlformats.org/officeDocument/2006/relationships/hyperlink" Target="https://irojournals.com/itdw/article/view/6/3/1?utm_source=chatgpt.com" TargetMode="External"/><Relationship Id="rId1" Type="http://schemas.openxmlformats.org/officeDocument/2006/relationships/slideLayout" Target="../slideLayouts/slideLayout2.xml"/><Relationship Id="rId4" Type="http://schemas.openxmlformats.org/officeDocument/2006/relationships/hyperlink" Target="https://www.researchgate.net/publication/361630088_Canteen_Food_Ordering_and_Managing_System?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object 10"/>
          <p:cNvPicPr/>
          <p:nvPr/>
        </p:nvPicPr>
        <p:blipFill>
          <a:blip r:embed="rId2" cstate="print"/>
          <a:stretch>
            <a:fillRect/>
          </a:stretch>
        </p:blipFill>
        <p:spPr>
          <a:xfrm>
            <a:off x="13938504" y="6400800"/>
            <a:ext cx="118871" cy="228600"/>
          </a:xfrm>
          <a:prstGeom prst="rect">
            <a:avLst/>
          </a:prstGeom>
        </p:spPr>
      </p:pic>
      <p:sp>
        <p:nvSpPr>
          <p:cNvPr id="11" name="object 11"/>
          <p:cNvSpPr txBox="1"/>
          <p:nvPr/>
        </p:nvSpPr>
        <p:spPr>
          <a:xfrm>
            <a:off x="1473200" y="5143500"/>
            <a:ext cx="3877594" cy="1036246"/>
          </a:xfrm>
          <a:prstGeom prst="rect">
            <a:avLst/>
          </a:prstGeom>
        </p:spPr>
        <p:txBody>
          <a:bodyPr vert="horz" wrap="square" lIns="0" tIns="12700" rIns="0" bIns="0" rtlCol="0">
            <a:spAutoFit/>
          </a:bodyPr>
          <a:lstStyle/>
          <a:p>
            <a:pPr marL="16510" algn="l">
              <a:lnSpc>
                <a:spcPct val="100000"/>
              </a:lnSpc>
              <a:spcBef>
                <a:spcPts val="100"/>
              </a:spcBef>
            </a:pPr>
            <a:r>
              <a:rPr sz="2250" b="1" spc="-10" dirty="0">
                <a:latin typeface="Times New Roman" panose="02020603050405020304" pitchFamily="18" charset="0"/>
                <a:cs typeface="Times New Roman" panose="02020603050405020304" pitchFamily="18" charset="0"/>
              </a:rPr>
              <a:t>Supervisor</a:t>
            </a:r>
            <a:r>
              <a:rPr sz="2250" spc="-10" dirty="0">
                <a:latin typeface="Times New Roman" panose="02020603050405020304" pitchFamily="18" charset="0"/>
                <a:cs typeface="Times New Roman" panose="02020603050405020304" pitchFamily="18" charset="0"/>
              </a:rPr>
              <a:t>:</a:t>
            </a:r>
            <a:endParaRPr sz="2250" dirty="0">
              <a:latin typeface="Times New Roman" panose="02020603050405020304" pitchFamily="18" charset="0"/>
              <a:cs typeface="Times New Roman" panose="02020603050405020304" pitchFamily="18" charset="0"/>
            </a:endParaRPr>
          </a:p>
          <a:p>
            <a:pPr marL="14605" marR="5080" indent="-2540" algn="l">
              <a:lnSpc>
                <a:spcPct val="82000"/>
              </a:lnSpc>
              <a:spcBef>
                <a:spcPts val="505"/>
              </a:spcBef>
            </a:pPr>
            <a:r>
              <a:rPr sz="2200" spc="-105" dirty="0">
                <a:latin typeface="Times New Roman" panose="02020603050405020304" pitchFamily="18" charset="0"/>
                <a:cs typeface="Times New Roman" panose="02020603050405020304" pitchFamily="18" charset="0"/>
              </a:rPr>
              <a:t>Mr.</a:t>
            </a:r>
            <a:r>
              <a:rPr sz="2200" spc="-2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Asim</a:t>
            </a:r>
            <a:r>
              <a:rPr sz="2200" spc="-1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Kumar</a:t>
            </a:r>
            <a:r>
              <a:rPr sz="2200" spc="30"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Rai </a:t>
            </a:r>
            <a:endParaRPr lang="en-US" sz="2200" spc="-25" dirty="0">
              <a:latin typeface="Times New Roman" panose="02020603050405020304" pitchFamily="18" charset="0"/>
              <a:cs typeface="Times New Roman" panose="02020603050405020304" pitchFamily="18" charset="0"/>
            </a:endParaRPr>
          </a:p>
          <a:p>
            <a:pPr marL="14605" marR="5080" indent="-2540" algn="l">
              <a:lnSpc>
                <a:spcPct val="82000"/>
              </a:lnSpc>
              <a:spcBef>
                <a:spcPts val="505"/>
              </a:spcBef>
            </a:pPr>
            <a:r>
              <a:rPr sz="2150" spc="-190" dirty="0">
                <a:latin typeface="Times New Roman" panose="02020603050405020304" pitchFamily="18" charset="0"/>
                <a:cs typeface="Times New Roman" panose="02020603050405020304" pitchFamily="18" charset="0"/>
              </a:rPr>
              <a:t>Assistant</a:t>
            </a:r>
            <a:r>
              <a:rPr sz="2150" spc="80" dirty="0">
                <a:latin typeface="Times New Roman" panose="02020603050405020304" pitchFamily="18" charset="0"/>
                <a:cs typeface="Times New Roman" panose="02020603050405020304" pitchFamily="18" charset="0"/>
              </a:rPr>
              <a:t> </a:t>
            </a:r>
            <a:r>
              <a:rPr sz="2150" spc="-90" dirty="0">
                <a:latin typeface="Times New Roman" panose="02020603050405020304" pitchFamily="18" charset="0"/>
                <a:cs typeface="Times New Roman" panose="02020603050405020304" pitchFamily="18" charset="0"/>
              </a:rPr>
              <a:t>Professor </a:t>
            </a:r>
            <a:r>
              <a:rPr sz="2150" spc="-75" dirty="0">
                <a:latin typeface="Times New Roman" panose="02020603050405020304" pitchFamily="18" charset="0"/>
                <a:cs typeface="Times New Roman" panose="02020603050405020304" pitchFamily="18" charset="0"/>
              </a:rPr>
              <a:t>Department</a:t>
            </a:r>
            <a:r>
              <a:rPr sz="2150" spc="35" dirty="0">
                <a:latin typeface="Times New Roman" panose="02020603050405020304" pitchFamily="18" charset="0"/>
                <a:cs typeface="Times New Roman" panose="02020603050405020304" pitchFamily="18" charset="0"/>
              </a:rPr>
              <a:t> </a:t>
            </a:r>
            <a:r>
              <a:rPr sz="2150" spc="-50" dirty="0">
                <a:latin typeface="Times New Roman" panose="02020603050405020304" pitchFamily="18" charset="0"/>
                <a:cs typeface="Times New Roman" panose="02020603050405020304" pitchFamily="18" charset="0"/>
              </a:rPr>
              <a:t>of</a:t>
            </a:r>
            <a:r>
              <a:rPr sz="2150" spc="-100" dirty="0">
                <a:latin typeface="Times New Roman" panose="02020603050405020304" pitchFamily="18" charset="0"/>
                <a:cs typeface="Times New Roman" panose="02020603050405020304" pitchFamily="18" charset="0"/>
              </a:rPr>
              <a:t> </a:t>
            </a:r>
            <a:r>
              <a:rPr sz="2150" spc="-400" dirty="0">
                <a:latin typeface="Times New Roman" panose="02020603050405020304" pitchFamily="18" charset="0"/>
                <a:cs typeface="Times New Roman" panose="02020603050405020304" pitchFamily="18" charset="0"/>
              </a:rPr>
              <a:t>C</a:t>
            </a:r>
            <a:r>
              <a:rPr lang="en-US" sz="2150" spc="-400" dirty="0">
                <a:latin typeface="Times New Roman" panose="02020603050405020304" pitchFamily="18" charset="0"/>
                <a:cs typeface="Times New Roman" panose="02020603050405020304" pitchFamily="18" charset="0"/>
              </a:rPr>
              <a:t>S </a:t>
            </a:r>
            <a:r>
              <a:rPr sz="2150" spc="-400" dirty="0">
                <a:latin typeface="Times New Roman" panose="02020603050405020304" pitchFamily="18" charset="0"/>
                <a:cs typeface="Times New Roman" panose="02020603050405020304" pitchFamily="18" charset="0"/>
              </a:rPr>
              <a:t>E</a:t>
            </a:r>
            <a:endParaRPr sz="2150" dirty="0">
              <a:latin typeface="Times New Roman" panose="02020603050405020304" pitchFamily="18" charset="0"/>
              <a:cs typeface="Times New Roman" panose="02020603050405020304" pitchFamily="18" charset="0"/>
            </a:endParaRPr>
          </a:p>
        </p:txBody>
      </p:sp>
      <p:sp>
        <p:nvSpPr>
          <p:cNvPr id="12" name="object 12"/>
          <p:cNvSpPr txBox="1">
            <a:spLocks noGrp="1"/>
          </p:cNvSpPr>
          <p:nvPr>
            <p:ph type="title"/>
          </p:nvPr>
        </p:nvSpPr>
        <p:spPr>
          <a:xfrm>
            <a:off x="6527779" y="1351308"/>
            <a:ext cx="5907405" cy="427990"/>
          </a:xfrm>
          <a:prstGeom prst="rect">
            <a:avLst/>
          </a:prstGeom>
        </p:spPr>
        <p:txBody>
          <a:bodyPr vert="horz" wrap="square" lIns="0" tIns="12700" rIns="0" bIns="0" rtlCol="0">
            <a:spAutoFit/>
          </a:bodyPr>
          <a:lstStyle/>
          <a:p>
            <a:pPr marL="12700">
              <a:lnSpc>
                <a:spcPct val="100000"/>
              </a:lnSpc>
              <a:spcBef>
                <a:spcPts val="100"/>
              </a:spcBef>
            </a:pPr>
            <a:r>
              <a:rPr lang="en-IN" sz="2700" spc="-65" dirty="0">
                <a:latin typeface="Times New Roman" panose="02020603050405020304" pitchFamily="18" charset="0"/>
                <a:cs typeface="Times New Roman" panose="02020603050405020304" pitchFamily="18" charset="0"/>
              </a:rPr>
              <a:t>M</a:t>
            </a:r>
            <a:r>
              <a:rPr sz="2700" spc="-65" dirty="0">
                <a:latin typeface="Times New Roman" panose="02020603050405020304" pitchFamily="18" charset="0"/>
                <a:cs typeface="Times New Roman" panose="02020603050405020304" pitchFamily="18" charset="0"/>
              </a:rPr>
              <a:t>ini</a:t>
            </a:r>
            <a:r>
              <a:rPr sz="2700" spc="-125" dirty="0">
                <a:latin typeface="Times New Roman" panose="02020603050405020304" pitchFamily="18" charset="0"/>
                <a:cs typeface="Times New Roman" panose="02020603050405020304" pitchFamily="18" charset="0"/>
              </a:rPr>
              <a:t> </a:t>
            </a:r>
            <a:r>
              <a:rPr sz="2700" spc="-140" dirty="0">
                <a:latin typeface="Times New Roman" panose="02020603050405020304" pitchFamily="18" charset="0"/>
                <a:cs typeface="Times New Roman" panose="02020603050405020304" pitchFamily="18" charset="0"/>
              </a:rPr>
              <a:t>Project</a:t>
            </a:r>
            <a:r>
              <a:rPr sz="2700" spc="10" dirty="0">
                <a:latin typeface="Times New Roman" panose="02020603050405020304" pitchFamily="18" charset="0"/>
                <a:cs typeface="Times New Roman" panose="02020603050405020304" pitchFamily="18" charset="0"/>
              </a:rPr>
              <a:t> </a:t>
            </a:r>
            <a:r>
              <a:rPr sz="2700" spc="-380" dirty="0">
                <a:latin typeface="Times New Roman" panose="02020603050405020304" pitchFamily="18" charset="0"/>
                <a:cs typeface="Times New Roman" panose="02020603050405020304" pitchFamily="18" charset="0"/>
              </a:rPr>
              <a:t>(B</a:t>
            </a:r>
            <a:r>
              <a:rPr lang="en-US" sz="2700" spc="-380" dirty="0">
                <a:latin typeface="Times New Roman" panose="02020603050405020304" pitchFamily="18" charset="0"/>
                <a:cs typeface="Times New Roman" panose="02020603050405020304" pitchFamily="18" charset="0"/>
              </a:rPr>
              <a:t> </a:t>
            </a:r>
            <a:r>
              <a:rPr sz="2700" spc="-380" dirty="0">
                <a:latin typeface="Times New Roman" panose="02020603050405020304" pitchFamily="18" charset="0"/>
                <a:cs typeface="Times New Roman" panose="02020603050405020304" pitchFamily="18" charset="0"/>
              </a:rPr>
              <a:t>C</a:t>
            </a:r>
            <a:r>
              <a:rPr lang="en-US" sz="2700" spc="-380" dirty="0">
                <a:latin typeface="Times New Roman" panose="02020603050405020304" pitchFamily="18" charset="0"/>
                <a:cs typeface="Times New Roman" panose="02020603050405020304" pitchFamily="18" charset="0"/>
              </a:rPr>
              <a:t> </a:t>
            </a:r>
            <a:r>
              <a:rPr sz="2700" spc="-380" dirty="0">
                <a:latin typeface="Times New Roman" panose="02020603050405020304" pitchFamily="18" charset="0"/>
                <a:cs typeface="Times New Roman" panose="02020603050405020304" pitchFamily="18" charset="0"/>
              </a:rPr>
              <a:t>S</a:t>
            </a:r>
            <a:r>
              <a:rPr sz="2700" spc="95" dirty="0">
                <a:latin typeface="Times New Roman" panose="02020603050405020304" pitchFamily="18" charset="0"/>
                <a:cs typeface="Times New Roman" panose="02020603050405020304" pitchFamily="18" charset="0"/>
              </a:rPr>
              <a:t> </a:t>
            </a:r>
            <a:r>
              <a:rPr sz="2700" spc="-114" dirty="0">
                <a:latin typeface="Times New Roman" panose="02020603050405020304" pitchFamily="18" charset="0"/>
                <a:cs typeface="Times New Roman" panose="02020603050405020304" pitchFamily="18" charset="0"/>
              </a:rPr>
              <a:t>554)</a:t>
            </a:r>
            <a:r>
              <a:rPr lang="en-US" sz="2700" spc="-114" dirty="0">
                <a:latin typeface="Times New Roman" panose="02020603050405020304" pitchFamily="18" charset="0"/>
                <a:cs typeface="Times New Roman" panose="02020603050405020304" pitchFamily="18" charset="0"/>
              </a:rPr>
              <a:t>Presentation</a:t>
            </a:r>
            <a:endParaRPr sz="2700" dirty="0">
              <a:latin typeface="Times New Roman" panose="02020603050405020304" pitchFamily="18" charset="0"/>
              <a:cs typeface="Times New Roman" panose="02020603050405020304" pitchFamily="18" charset="0"/>
            </a:endParaRPr>
          </a:p>
        </p:txBody>
      </p:sp>
      <p:sp>
        <p:nvSpPr>
          <p:cNvPr id="13" name="object 13"/>
          <p:cNvSpPr txBox="1"/>
          <p:nvPr/>
        </p:nvSpPr>
        <p:spPr>
          <a:xfrm>
            <a:off x="6527779" y="1856302"/>
            <a:ext cx="4621530" cy="1295226"/>
          </a:xfrm>
          <a:prstGeom prst="rect">
            <a:avLst/>
          </a:prstGeom>
        </p:spPr>
        <p:txBody>
          <a:bodyPr vert="horz" wrap="square" lIns="0" tIns="12700" rIns="0" bIns="0" rtlCol="0">
            <a:spAutoFit/>
          </a:bodyPr>
          <a:lstStyle/>
          <a:p>
            <a:pPr marL="12700" algn="ctr">
              <a:lnSpc>
                <a:spcPts val="3020"/>
              </a:lnSpc>
              <a:spcBef>
                <a:spcPts val="100"/>
              </a:spcBef>
            </a:pPr>
            <a:r>
              <a:rPr sz="2650" spc="-25" dirty="0">
                <a:latin typeface="Times New Roman" panose="02020603050405020304" pitchFamily="18" charset="0"/>
                <a:cs typeface="Times New Roman" panose="02020603050405020304" pitchFamily="18" charset="0"/>
              </a:rPr>
              <a:t>on</a:t>
            </a:r>
            <a:endParaRPr sz="2650" dirty="0">
              <a:latin typeface="Times New Roman" panose="02020603050405020304" pitchFamily="18" charset="0"/>
              <a:cs typeface="Times New Roman" panose="02020603050405020304" pitchFamily="18" charset="0"/>
            </a:endParaRPr>
          </a:p>
          <a:p>
            <a:pPr algn="ctr">
              <a:lnSpc>
                <a:spcPts val="3500"/>
              </a:lnSpc>
            </a:pPr>
            <a:r>
              <a:rPr lang="en-US" sz="3200" b="1" spc="-30" dirty="0" err="1">
                <a:latin typeface="Times New Roman" panose="02020603050405020304" pitchFamily="18" charset="0"/>
                <a:cs typeface="Times New Roman" panose="02020603050405020304" pitchFamily="18" charset="0"/>
              </a:rPr>
              <a:t>SmartEats:Digital</a:t>
            </a:r>
            <a:r>
              <a:rPr lang="en-US" sz="3200" b="1" spc="-30" dirty="0">
                <a:latin typeface="Times New Roman" panose="02020603050405020304" pitchFamily="18" charset="0"/>
                <a:cs typeface="Times New Roman" panose="02020603050405020304" pitchFamily="18" charset="0"/>
              </a:rPr>
              <a:t> canteen platform</a:t>
            </a:r>
            <a:endParaRPr sz="3200" b="1" dirty="0">
              <a:latin typeface="Times New Roman" panose="02020603050405020304" pitchFamily="18" charset="0"/>
              <a:cs typeface="Times New Roman" panose="02020603050405020304" pitchFamily="18" charset="0"/>
            </a:endParaRPr>
          </a:p>
        </p:txBody>
      </p:sp>
      <p:sp>
        <p:nvSpPr>
          <p:cNvPr id="15" name="object 15"/>
          <p:cNvSpPr txBox="1"/>
          <p:nvPr/>
        </p:nvSpPr>
        <p:spPr>
          <a:xfrm>
            <a:off x="12075256" y="4898390"/>
            <a:ext cx="4155343" cy="1538883"/>
          </a:xfrm>
          <a:prstGeom prst="rect">
            <a:avLst/>
          </a:prstGeom>
        </p:spPr>
        <p:txBody>
          <a:bodyPr vert="horz" wrap="square" lIns="0" tIns="12700" rIns="0" bIns="0" rtlCol="0">
            <a:spAutoFit/>
          </a:bodyPr>
          <a:lstStyle/>
          <a:p>
            <a:pPr marL="24130" algn="l">
              <a:lnSpc>
                <a:spcPts val="2655"/>
              </a:lnSpc>
              <a:spcBef>
                <a:spcPts val="100"/>
              </a:spcBef>
            </a:pPr>
            <a:r>
              <a:rPr sz="2250" b="1" dirty="0">
                <a:latin typeface="Times New Roman" panose="02020603050405020304" pitchFamily="18" charset="0"/>
                <a:cs typeface="Times New Roman" panose="02020603050405020304" pitchFamily="18" charset="0"/>
              </a:rPr>
              <a:t>Submitted</a:t>
            </a:r>
            <a:r>
              <a:rPr sz="2250" b="1" spc="335" dirty="0">
                <a:latin typeface="Times New Roman" panose="02020603050405020304" pitchFamily="18" charset="0"/>
                <a:cs typeface="Times New Roman" panose="02020603050405020304" pitchFamily="18" charset="0"/>
              </a:rPr>
              <a:t> </a:t>
            </a:r>
            <a:r>
              <a:rPr sz="2250" b="1" spc="45" dirty="0">
                <a:latin typeface="Times New Roman" panose="02020603050405020304" pitchFamily="18" charset="0"/>
                <a:cs typeface="Times New Roman" panose="02020603050405020304" pitchFamily="18" charset="0"/>
              </a:rPr>
              <a:t>By</a:t>
            </a:r>
            <a:r>
              <a:rPr sz="2250" spc="45" dirty="0">
                <a:latin typeface="Times New Roman" panose="02020603050405020304" pitchFamily="18" charset="0"/>
                <a:cs typeface="Times New Roman" panose="02020603050405020304" pitchFamily="18" charset="0"/>
              </a:rPr>
              <a:t>:</a:t>
            </a:r>
            <a:endParaRPr sz="2250" dirty="0">
              <a:latin typeface="Times New Roman" panose="02020603050405020304" pitchFamily="18" charset="0"/>
              <a:cs typeface="Times New Roman" panose="02020603050405020304" pitchFamily="18" charset="0"/>
            </a:endParaRPr>
          </a:p>
          <a:p>
            <a:pPr marL="24130" algn="l">
              <a:lnSpc>
                <a:spcPts val="2455"/>
              </a:lnSpc>
            </a:pPr>
            <a:r>
              <a:rPr sz="2350" b="1" spc="-10" dirty="0">
                <a:latin typeface="Times New Roman" panose="02020603050405020304" pitchFamily="18" charset="0"/>
                <a:cs typeface="Times New Roman" panose="02020603050405020304" pitchFamily="18" charset="0"/>
              </a:rPr>
              <a:t>Group </a:t>
            </a:r>
            <a:r>
              <a:rPr sz="2350" b="1" dirty="0">
                <a:latin typeface="Times New Roman" panose="02020603050405020304" pitchFamily="18" charset="0"/>
                <a:cs typeface="Times New Roman" panose="02020603050405020304" pitchFamily="18" charset="0"/>
              </a:rPr>
              <a:t>No</a:t>
            </a:r>
            <a:r>
              <a:rPr sz="2350" b="1" spc="-85" dirty="0">
                <a:latin typeface="Times New Roman" panose="02020603050405020304" pitchFamily="18" charset="0"/>
                <a:cs typeface="Times New Roman" panose="02020603050405020304" pitchFamily="18" charset="0"/>
              </a:rPr>
              <a:t> </a:t>
            </a:r>
            <a:r>
              <a:rPr sz="2350" b="1" dirty="0">
                <a:latin typeface="Times New Roman" panose="02020603050405020304" pitchFamily="18" charset="0"/>
                <a:cs typeface="Times New Roman" panose="02020603050405020304" pitchFamily="18" charset="0"/>
              </a:rPr>
              <a:t>.</a:t>
            </a:r>
            <a:r>
              <a:rPr sz="2350" b="1" spc="-120" dirty="0">
                <a:latin typeface="Times New Roman" panose="02020603050405020304" pitchFamily="18" charset="0"/>
                <a:cs typeface="Times New Roman" panose="02020603050405020304" pitchFamily="18" charset="0"/>
              </a:rPr>
              <a:t> </a:t>
            </a:r>
            <a:r>
              <a:rPr sz="2350" b="1" spc="25" dirty="0">
                <a:latin typeface="Times New Roman" panose="02020603050405020304" pitchFamily="18" charset="0"/>
                <a:cs typeface="Times New Roman" panose="02020603050405020304" pitchFamily="18" charset="0"/>
              </a:rPr>
              <a:t>41</a:t>
            </a:r>
            <a:endParaRPr sz="2350" b="1" dirty="0">
              <a:latin typeface="Times New Roman" panose="02020603050405020304" pitchFamily="18" charset="0"/>
              <a:cs typeface="Times New Roman" panose="02020603050405020304" pitchFamily="18" charset="0"/>
            </a:endParaRPr>
          </a:p>
          <a:p>
            <a:pPr marL="20320" algn="l">
              <a:lnSpc>
                <a:spcPts val="2170"/>
              </a:lnSpc>
            </a:pPr>
            <a:r>
              <a:rPr sz="2450" spc="-90" dirty="0">
                <a:latin typeface="Times New Roman" panose="02020603050405020304" pitchFamily="18" charset="0"/>
                <a:cs typeface="Times New Roman" panose="02020603050405020304" pitchFamily="18" charset="0"/>
              </a:rPr>
              <a:t>Kishan</a:t>
            </a:r>
            <a:r>
              <a:rPr sz="2450" spc="35" dirty="0">
                <a:latin typeface="Times New Roman" panose="02020603050405020304" pitchFamily="18" charset="0"/>
                <a:cs typeface="Times New Roman" panose="02020603050405020304" pitchFamily="18" charset="0"/>
              </a:rPr>
              <a:t> </a:t>
            </a:r>
            <a:r>
              <a:rPr sz="2450" spc="-135" dirty="0">
                <a:latin typeface="Times New Roman" panose="02020603050405020304" pitchFamily="18" charset="0"/>
                <a:cs typeface="Times New Roman" panose="02020603050405020304" pitchFamily="18" charset="0"/>
              </a:rPr>
              <a:t>Sharm</a:t>
            </a:r>
            <a:r>
              <a:rPr lang="en-US" sz="2450" spc="-35" dirty="0">
                <a:latin typeface="Times New Roman" panose="02020603050405020304" pitchFamily="18" charset="0"/>
                <a:cs typeface="Times New Roman" panose="02020603050405020304" pitchFamily="18" charset="0"/>
              </a:rPr>
              <a:t>a</a:t>
            </a:r>
            <a:r>
              <a:rPr sz="2450" spc="-25" dirty="0">
                <a:latin typeface="Times New Roman" panose="02020603050405020304" pitchFamily="18" charset="0"/>
                <a:cs typeface="Times New Roman" panose="02020603050405020304" pitchFamily="18" charset="0"/>
              </a:rPr>
              <a:t>(2301430100120)</a:t>
            </a:r>
            <a:endParaRPr sz="2450" dirty="0">
              <a:latin typeface="Times New Roman" panose="02020603050405020304" pitchFamily="18" charset="0"/>
              <a:cs typeface="Times New Roman" panose="02020603050405020304" pitchFamily="18" charset="0"/>
            </a:endParaRPr>
          </a:p>
          <a:p>
            <a:pPr marL="12700" algn="l">
              <a:lnSpc>
                <a:spcPts val="2015"/>
              </a:lnSpc>
            </a:pPr>
            <a:r>
              <a:rPr lang="en-IN" altLang="" sz="2450" spc="-135" dirty="0">
                <a:latin typeface="Times New Roman" panose="02020603050405020304" pitchFamily="18" charset="0"/>
                <a:cs typeface="Times New Roman" panose="02020603050405020304" pitchFamily="18" charset="0"/>
              </a:rPr>
              <a:t>J</a:t>
            </a:r>
            <a:r>
              <a:rPr sz="2450" spc="-135" dirty="0" err="1">
                <a:latin typeface="Times New Roman" panose="02020603050405020304" pitchFamily="18" charset="0"/>
                <a:cs typeface="Times New Roman" panose="02020603050405020304" pitchFamily="18" charset="0"/>
              </a:rPr>
              <a:t>es</a:t>
            </a:r>
            <a:r>
              <a:rPr lang="en-US" sz="2450" spc="-135" dirty="0" err="1">
                <a:latin typeface="Times New Roman" panose="02020603050405020304" pitchFamily="18" charset="0"/>
                <a:cs typeface="Times New Roman" panose="02020603050405020304" pitchFamily="18" charset="0"/>
              </a:rPr>
              <a:t>v</a:t>
            </a:r>
            <a:r>
              <a:rPr sz="2450" spc="-135" dirty="0" err="1">
                <a:latin typeface="Times New Roman" panose="02020603050405020304" pitchFamily="18" charset="0"/>
                <a:cs typeface="Times New Roman" panose="02020603050405020304" pitchFamily="18" charset="0"/>
              </a:rPr>
              <a:t>in</a:t>
            </a:r>
            <a:r>
              <a:rPr sz="2450" dirty="0">
                <a:latin typeface="Times New Roman" panose="02020603050405020304" pitchFamily="18" charset="0"/>
                <a:cs typeface="Times New Roman" panose="02020603050405020304" pitchFamily="18" charset="0"/>
              </a:rPr>
              <a:t> </a:t>
            </a:r>
            <a:r>
              <a:rPr sz="2450" spc="-135" dirty="0">
                <a:latin typeface="Times New Roman" panose="02020603050405020304" pitchFamily="18" charset="0"/>
                <a:cs typeface="Times New Roman" panose="02020603050405020304" pitchFamily="18" charset="0"/>
              </a:rPr>
              <a:t>Cherian</a:t>
            </a:r>
            <a:r>
              <a:rPr sz="2450" spc="50" dirty="0">
                <a:latin typeface="Times New Roman" panose="02020603050405020304" pitchFamily="18" charset="0"/>
                <a:cs typeface="Times New Roman" panose="02020603050405020304" pitchFamily="18" charset="0"/>
              </a:rPr>
              <a:t> </a:t>
            </a:r>
            <a:r>
              <a:rPr sz="2450" spc="-35" dirty="0">
                <a:latin typeface="Times New Roman" panose="02020603050405020304" pitchFamily="18" charset="0"/>
                <a:cs typeface="Times New Roman" panose="02020603050405020304" pitchFamily="18" charset="0"/>
              </a:rPr>
              <a:t>(2301430100106)</a:t>
            </a:r>
            <a:endParaRPr sz="2450" dirty="0">
              <a:latin typeface="Times New Roman" panose="02020603050405020304" pitchFamily="18" charset="0"/>
              <a:cs typeface="Times New Roman" panose="02020603050405020304" pitchFamily="18" charset="0"/>
            </a:endParaRPr>
          </a:p>
          <a:p>
            <a:pPr marL="16510" algn="l">
              <a:lnSpc>
                <a:spcPts val="2525"/>
              </a:lnSpc>
            </a:pPr>
            <a:r>
              <a:rPr sz="2500" spc="-235" dirty="0">
                <a:latin typeface="Times New Roman" panose="02020603050405020304" pitchFamily="18" charset="0"/>
                <a:cs typeface="Times New Roman" panose="02020603050405020304" pitchFamily="18" charset="0"/>
              </a:rPr>
              <a:t>Majid</a:t>
            </a:r>
            <a:r>
              <a:rPr sz="2500" spc="125" dirty="0">
                <a:latin typeface="Times New Roman" panose="02020603050405020304" pitchFamily="18" charset="0"/>
                <a:cs typeface="Times New Roman" panose="02020603050405020304" pitchFamily="18" charset="0"/>
              </a:rPr>
              <a:t> </a:t>
            </a:r>
            <a:r>
              <a:rPr sz="2500" spc="-125" dirty="0">
                <a:latin typeface="Times New Roman" panose="02020603050405020304" pitchFamily="18" charset="0"/>
                <a:cs typeface="Times New Roman" panose="02020603050405020304" pitchFamily="18" charset="0"/>
              </a:rPr>
              <a:t>Ali</a:t>
            </a:r>
            <a:r>
              <a:rPr sz="2500" spc="-10" dirty="0">
                <a:latin typeface="Times New Roman" panose="02020603050405020304" pitchFamily="18" charset="0"/>
                <a:cs typeface="Times New Roman" panose="02020603050405020304" pitchFamily="18" charset="0"/>
              </a:rPr>
              <a:t>(2301430100133)</a:t>
            </a:r>
            <a:endParaRPr sz="2500" dirty="0">
              <a:latin typeface="Times New Roman" panose="02020603050405020304" pitchFamily="18" charset="0"/>
              <a:cs typeface="Times New Roman" panose="02020603050405020304" pitchFamily="18" charset="0"/>
            </a:endParaRPr>
          </a:p>
        </p:txBody>
      </p:sp>
      <p:sp>
        <p:nvSpPr>
          <p:cNvPr id="16" name="object 16"/>
          <p:cNvSpPr txBox="1"/>
          <p:nvPr/>
        </p:nvSpPr>
        <p:spPr>
          <a:xfrm>
            <a:off x="12078842" y="6591282"/>
            <a:ext cx="3715385" cy="397545"/>
          </a:xfrm>
          <a:prstGeom prst="rect">
            <a:avLst/>
          </a:prstGeom>
        </p:spPr>
        <p:txBody>
          <a:bodyPr vert="horz" wrap="square" lIns="0" tIns="12700" rIns="0" bIns="0" rtlCol="0">
            <a:spAutoFit/>
          </a:bodyPr>
          <a:lstStyle/>
          <a:p>
            <a:pPr marL="12700" algn="l">
              <a:lnSpc>
                <a:spcPct val="100000"/>
              </a:lnSpc>
              <a:spcBef>
                <a:spcPts val="100"/>
              </a:spcBef>
            </a:pPr>
            <a:r>
              <a:rPr sz="2500" spc="-250" dirty="0">
                <a:latin typeface="Times New Roman" panose="02020603050405020304" pitchFamily="18" charset="0"/>
                <a:cs typeface="Times New Roman" panose="02020603050405020304" pitchFamily="18" charset="0"/>
              </a:rPr>
              <a:t>Mohd.</a:t>
            </a:r>
            <a:r>
              <a:rPr sz="2500" spc="120" dirty="0">
                <a:latin typeface="Times New Roman" panose="02020603050405020304" pitchFamily="18" charset="0"/>
                <a:cs typeface="Times New Roman" panose="02020603050405020304" pitchFamily="18" charset="0"/>
              </a:rPr>
              <a:t> </a:t>
            </a:r>
            <a:r>
              <a:rPr sz="2500" spc="-114" dirty="0">
                <a:latin typeface="Times New Roman" panose="02020603050405020304" pitchFamily="18" charset="0"/>
                <a:cs typeface="Times New Roman" panose="02020603050405020304" pitchFamily="18" charset="0"/>
              </a:rPr>
              <a:t>Sohail</a:t>
            </a:r>
            <a:r>
              <a:rPr sz="2500" spc="-70" dirty="0">
                <a:latin typeface="Times New Roman" panose="02020603050405020304" pitchFamily="18" charset="0"/>
                <a:cs typeface="Times New Roman" panose="02020603050405020304" pitchFamily="18" charset="0"/>
              </a:rPr>
              <a:t>(2301430100140)</a:t>
            </a:r>
            <a:endParaRPr sz="2500" dirty="0">
              <a:latin typeface="Times New Roman" panose="02020603050405020304" pitchFamily="18" charset="0"/>
              <a:cs typeface="Times New Roman" panose="02020603050405020304" pitchFamily="18" charset="0"/>
            </a:endParaRPr>
          </a:p>
        </p:txBody>
      </p:sp>
      <p:sp>
        <p:nvSpPr>
          <p:cNvPr id="17" name="object 17"/>
          <p:cNvSpPr txBox="1"/>
          <p:nvPr/>
        </p:nvSpPr>
        <p:spPr>
          <a:xfrm>
            <a:off x="12082780" y="6283960"/>
            <a:ext cx="4909820" cy="389255"/>
          </a:xfrm>
          <a:prstGeom prst="rect">
            <a:avLst/>
          </a:prstGeom>
        </p:spPr>
        <p:txBody>
          <a:bodyPr vert="horz" wrap="square" lIns="0" tIns="12700" rIns="0" bIns="0" rtlCol="0">
            <a:spAutoFit/>
          </a:bodyPr>
          <a:lstStyle/>
          <a:p>
            <a:pPr marL="12700">
              <a:lnSpc>
                <a:spcPct val="100000"/>
              </a:lnSpc>
              <a:spcBef>
                <a:spcPts val="100"/>
              </a:spcBef>
              <a:tabLst>
                <a:tab pos="2042160" algn="l"/>
              </a:tabLst>
            </a:pPr>
            <a:r>
              <a:rPr sz="2450" spc="-120" dirty="0">
                <a:latin typeface="Times New Roman" panose="02020603050405020304" pitchFamily="18" charset="0"/>
                <a:cs typeface="Times New Roman" panose="02020603050405020304" pitchFamily="18" charset="0"/>
              </a:rPr>
              <a:t>Karan</a:t>
            </a:r>
            <a:r>
              <a:rPr sz="2450" dirty="0">
                <a:latin typeface="Times New Roman" panose="02020603050405020304" pitchFamily="18" charset="0"/>
                <a:cs typeface="Times New Roman" panose="02020603050405020304" pitchFamily="18" charset="0"/>
              </a:rPr>
              <a:t> </a:t>
            </a:r>
            <a:r>
              <a:rPr sz="2450" spc="-70" dirty="0">
                <a:latin typeface="Times New Roman" panose="02020603050405020304" pitchFamily="18" charset="0"/>
                <a:cs typeface="Times New Roman" panose="02020603050405020304" pitchFamily="18" charset="0"/>
              </a:rPr>
              <a:t>Kr.</a:t>
            </a:r>
            <a:r>
              <a:rPr sz="2450" spc="-90" dirty="0">
                <a:latin typeface="Times New Roman" panose="02020603050405020304" pitchFamily="18" charset="0"/>
                <a:cs typeface="Times New Roman" panose="02020603050405020304" pitchFamily="18" charset="0"/>
              </a:rPr>
              <a:t> </a:t>
            </a:r>
            <a:r>
              <a:rPr sz="2450" spc="-320" dirty="0">
                <a:latin typeface="Times New Roman" panose="02020603050405020304" pitchFamily="18" charset="0"/>
                <a:cs typeface="Times New Roman" panose="02020603050405020304" pitchFamily="18" charset="0"/>
              </a:rPr>
              <a:t>M</a:t>
            </a:r>
            <a:r>
              <a:rPr lang="en-US" sz="2450" spc="-320" dirty="0">
                <a:latin typeface="Times New Roman" panose="02020603050405020304" pitchFamily="18" charset="0"/>
                <a:cs typeface="Times New Roman" panose="02020603050405020304" pitchFamily="18" charset="0"/>
              </a:rPr>
              <a:t>aurya</a:t>
            </a:r>
            <a:r>
              <a:rPr lang="en-IN" altLang="" sz="2450" spc="-320" dirty="0">
                <a:latin typeface="Times New Roman" panose="02020603050405020304" pitchFamily="18" charset="0"/>
                <a:cs typeface="Times New Roman" panose="02020603050405020304" pitchFamily="18" charset="0"/>
              </a:rPr>
              <a:t> (</a:t>
            </a:r>
            <a:r>
              <a:rPr sz="2450" spc="-50" dirty="0">
                <a:latin typeface="Times New Roman" panose="02020603050405020304" pitchFamily="18" charset="0"/>
                <a:cs typeface="Times New Roman" panose="02020603050405020304" pitchFamily="18" charset="0"/>
              </a:rPr>
              <a:t>2301430100113)</a:t>
            </a:r>
            <a:endParaRPr sz="2450" dirty="0">
              <a:latin typeface="Times New Roman" panose="02020603050405020304" pitchFamily="18" charset="0"/>
              <a:cs typeface="Times New Roman" panose="02020603050405020304" pitchFamily="18" charset="0"/>
            </a:endParaRPr>
          </a:p>
        </p:txBody>
      </p:sp>
      <p:sp>
        <p:nvSpPr>
          <p:cNvPr id="18" name="object 18"/>
          <p:cNvSpPr txBox="1"/>
          <p:nvPr/>
        </p:nvSpPr>
        <p:spPr>
          <a:xfrm>
            <a:off x="5350793" y="7357109"/>
            <a:ext cx="6460207" cy="1394613"/>
          </a:xfrm>
          <a:prstGeom prst="rect">
            <a:avLst/>
          </a:prstGeom>
        </p:spPr>
        <p:txBody>
          <a:bodyPr vert="horz" wrap="square" lIns="0" tIns="60325" rIns="0" bIns="0" rtlCol="0">
            <a:spAutoFit/>
          </a:bodyPr>
          <a:lstStyle/>
          <a:p>
            <a:pPr marL="847725" marR="169545" indent="-826135" algn="l">
              <a:lnSpc>
                <a:spcPts val="2590"/>
              </a:lnSpc>
              <a:spcBef>
                <a:spcPts val="475"/>
              </a:spcBef>
            </a:pPr>
            <a:r>
              <a:rPr sz="2450" b="1" spc="-85" dirty="0">
                <a:latin typeface="Times New Roman" panose="02020603050405020304" pitchFamily="18" charset="0"/>
                <a:cs typeface="Times New Roman" panose="02020603050405020304" pitchFamily="18" charset="0"/>
              </a:rPr>
              <a:t>Department</a:t>
            </a:r>
            <a:r>
              <a:rPr sz="2450" b="1" spc="-15" dirty="0">
                <a:latin typeface="Times New Roman" panose="02020603050405020304" pitchFamily="18" charset="0"/>
                <a:cs typeface="Times New Roman" panose="02020603050405020304" pitchFamily="18" charset="0"/>
              </a:rPr>
              <a:t> </a:t>
            </a:r>
            <a:r>
              <a:rPr sz="2450" b="1" spc="-80" dirty="0">
                <a:latin typeface="Times New Roman" panose="02020603050405020304" pitchFamily="18" charset="0"/>
                <a:cs typeface="Times New Roman" panose="02020603050405020304" pitchFamily="18" charset="0"/>
              </a:rPr>
              <a:t>of</a:t>
            </a:r>
            <a:r>
              <a:rPr sz="2450" b="1" spc="-55" dirty="0">
                <a:latin typeface="Times New Roman" panose="02020603050405020304" pitchFamily="18" charset="0"/>
                <a:cs typeface="Times New Roman" panose="02020603050405020304" pitchFamily="18" charset="0"/>
              </a:rPr>
              <a:t> </a:t>
            </a:r>
            <a:r>
              <a:rPr sz="2450" b="1" spc="-80" dirty="0">
                <a:latin typeface="Times New Roman" panose="02020603050405020304" pitchFamily="18" charset="0"/>
                <a:cs typeface="Times New Roman" panose="02020603050405020304" pitchFamily="18" charset="0"/>
              </a:rPr>
              <a:t>Computer</a:t>
            </a:r>
            <a:r>
              <a:rPr sz="2450" b="1" dirty="0">
                <a:latin typeface="Times New Roman" panose="02020603050405020304" pitchFamily="18" charset="0"/>
                <a:cs typeface="Times New Roman" panose="02020603050405020304" pitchFamily="18" charset="0"/>
              </a:rPr>
              <a:t> </a:t>
            </a:r>
            <a:r>
              <a:rPr sz="2450" b="1" spc="-10" dirty="0">
                <a:latin typeface="Times New Roman" panose="02020603050405020304" pitchFamily="18" charset="0"/>
                <a:cs typeface="Times New Roman" panose="02020603050405020304" pitchFamily="18" charset="0"/>
              </a:rPr>
              <a:t>Science</a:t>
            </a:r>
            <a:r>
              <a:rPr sz="2450" b="1" spc="-70" dirty="0">
                <a:latin typeface="Times New Roman" panose="02020603050405020304" pitchFamily="18" charset="0"/>
                <a:cs typeface="Times New Roman" panose="02020603050405020304" pitchFamily="18" charset="0"/>
              </a:rPr>
              <a:t> </a:t>
            </a:r>
            <a:r>
              <a:rPr sz="2450" b="1" spc="-225" dirty="0">
                <a:latin typeface="Times New Roman" panose="02020603050405020304" pitchFamily="18" charset="0"/>
                <a:cs typeface="Times New Roman" panose="02020603050405020304" pitchFamily="18" charset="0"/>
              </a:rPr>
              <a:t>&amp;</a:t>
            </a:r>
            <a:r>
              <a:rPr sz="2450" b="1" spc="-65" dirty="0">
                <a:latin typeface="Times New Roman" panose="02020603050405020304" pitchFamily="18" charset="0"/>
                <a:cs typeface="Times New Roman" panose="02020603050405020304" pitchFamily="18" charset="0"/>
              </a:rPr>
              <a:t> </a:t>
            </a:r>
            <a:r>
              <a:rPr sz="2450" b="1" spc="-35" dirty="0">
                <a:latin typeface="Times New Roman" panose="02020603050405020304" pitchFamily="18" charset="0"/>
                <a:cs typeface="Times New Roman" panose="02020603050405020304" pitchFamily="18" charset="0"/>
              </a:rPr>
              <a:t>Engineering </a:t>
            </a:r>
            <a:r>
              <a:rPr sz="2450" spc="-100" dirty="0">
                <a:latin typeface="Times New Roman" panose="02020603050405020304" pitchFamily="18" charset="0"/>
                <a:cs typeface="Times New Roman" panose="02020603050405020304" pitchFamily="18" charset="0"/>
              </a:rPr>
              <a:t>IMS</a:t>
            </a:r>
            <a:r>
              <a:rPr sz="2450" spc="-35" dirty="0">
                <a:latin typeface="Times New Roman" panose="02020603050405020304" pitchFamily="18" charset="0"/>
                <a:cs typeface="Times New Roman" panose="02020603050405020304" pitchFamily="18" charset="0"/>
              </a:rPr>
              <a:t> </a:t>
            </a:r>
            <a:r>
              <a:rPr sz="2450" spc="-130" dirty="0">
                <a:latin typeface="Times New Roman" panose="02020603050405020304" pitchFamily="18" charset="0"/>
                <a:cs typeface="Times New Roman" panose="02020603050405020304" pitchFamily="18" charset="0"/>
              </a:rPr>
              <a:t>Engineering</a:t>
            </a:r>
            <a:r>
              <a:rPr sz="2450" spc="10" dirty="0">
                <a:latin typeface="Times New Roman" panose="02020603050405020304" pitchFamily="18" charset="0"/>
                <a:cs typeface="Times New Roman" panose="02020603050405020304" pitchFamily="18" charset="0"/>
              </a:rPr>
              <a:t> </a:t>
            </a:r>
            <a:r>
              <a:rPr sz="2450" spc="-110" dirty="0">
                <a:latin typeface="Times New Roman" panose="02020603050405020304" pitchFamily="18" charset="0"/>
                <a:cs typeface="Times New Roman" panose="02020603050405020304" pitchFamily="18" charset="0"/>
              </a:rPr>
              <a:t>College,</a:t>
            </a:r>
            <a:r>
              <a:rPr sz="2450" spc="50" dirty="0">
                <a:latin typeface="Times New Roman" panose="02020603050405020304" pitchFamily="18" charset="0"/>
                <a:cs typeface="Times New Roman" panose="02020603050405020304" pitchFamily="18" charset="0"/>
              </a:rPr>
              <a:t> </a:t>
            </a:r>
            <a:r>
              <a:rPr sz="2450" spc="-25" dirty="0">
                <a:latin typeface="Times New Roman" panose="02020603050405020304" pitchFamily="18" charset="0"/>
                <a:cs typeface="Times New Roman" panose="02020603050405020304" pitchFamily="18" charset="0"/>
              </a:rPr>
              <a:t>Ghaziabad</a:t>
            </a:r>
            <a:endParaRPr sz="2450" dirty="0">
              <a:latin typeface="Times New Roman" panose="02020603050405020304" pitchFamily="18" charset="0"/>
              <a:cs typeface="Times New Roman" panose="02020603050405020304" pitchFamily="18" charset="0"/>
            </a:endParaRPr>
          </a:p>
          <a:p>
            <a:pPr marL="12700" algn="l">
              <a:lnSpc>
                <a:spcPts val="2455"/>
              </a:lnSpc>
            </a:pPr>
            <a:r>
              <a:rPr sz="2450" spc="-135" dirty="0">
                <a:latin typeface="Times New Roman" panose="02020603050405020304" pitchFamily="18" charset="0"/>
                <a:cs typeface="Times New Roman" panose="02020603050405020304" pitchFamily="18" charset="0"/>
              </a:rPr>
              <a:t>Dr.</a:t>
            </a:r>
            <a:r>
              <a:rPr sz="2450" spc="-5" dirty="0">
                <a:latin typeface="Times New Roman" panose="02020603050405020304" pitchFamily="18" charset="0"/>
                <a:cs typeface="Times New Roman" panose="02020603050405020304" pitchFamily="18" charset="0"/>
              </a:rPr>
              <a:t> </a:t>
            </a:r>
            <a:r>
              <a:rPr sz="2450" spc="-135" dirty="0">
                <a:latin typeface="Times New Roman" panose="02020603050405020304" pitchFamily="18" charset="0"/>
                <a:cs typeface="Times New Roman" panose="02020603050405020304" pitchFamily="18" charset="0"/>
              </a:rPr>
              <a:t>A.P</a:t>
            </a:r>
            <a:r>
              <a:rPr lang="en-US" sz="2450" spc="-135" dirty="0">
                <a:latin typeface="Times New Roman" panose="02020603050405020304" pitchFamily="18" charset="0"/>
                <a:cs typeface="Times New Roman" panose="02020603050405020304" pitchFamily="18" charset="0"/>
              </a:rPr>
              <a:t>.J</a:t>
            </a:r>
            <a:r>
              <a:rPr sz="2450" spc="40" dirty="0">
                <a:latin typeface="Times New Roman" panose="02020603050405020304" pitchFamily="18" charset="0"/>
                <a:cs typeface="Times New Roman" panose="02020603050405020304" pitchFamily="18" charset="0"/>
              </a:rPr>
              <a:t> </a:t>
            </a:r>
            <a:r>
              <a:rPr sz="2450" spc="-140" dirty="0">
                <a:latin typeface="Times New Roman" panose="02020603050405020304" pitchFamily="18" charset="0"/>
                <a:cs typeface="Times New Roman" panose="02020603050405020304" pitchFamily="18" charset="0"/>
              </a:rPr>
              <a:t>Abdul</a:t>
            </a:r>
            <a:r>
              <a:rPr sz="2450" spc="-60" dirty="0">
                <a:latin typeface="Times New Roman" panose="02020603050405020304" pitchFamily="18" charset="0"/>
                <a:cs typeface="Times New Roman" panose="02020603050405020304" pitchFamily="18" charset="0"/>
              </a:rPr>
              <a:t> </a:t>
            </a:r>
            <a:r>
              <a:rPr sz="2450" spc="-110" dirty="0">
                <a:latin typeface="Times New Roman" panose="02020603050405020304" pitchFamily="18" charset="0"/>
                <a:cs typeface="Times New Roman" panose="02020603050405020304" pitchFamily="18" charset="0"/>
              </a:rPr>
              <a:t>Kalam</a:t>
            </a:r>
            <a:r>
              <a:rPr sz="2450" spc="65" dirty="0">
                <a:latin typeface="Times New Roman" panose="02020603050405020304" pitchFamily="18" charset="0"/>
                <a:cs typeface="Times New Roman" panose="02020603050405020304" pitchFamily="18" charset="0"/>
              </a:rPr>
              <a:t> </a:t>
            </a:r>
            <a:r>
              <a:rPr sz="2450" spc="-114" dirty="0">
                <a:latin typeface="Times New Roman" panose="02020603050405020304" pitchFamily="18" charset="0"/>
                <a:cs typeface="Times New Roman" panose="02020603050405020304" pitchFamily="18" charset="0"/>
              </a:rPr>
              <a:t>Technical</a:t>
            </a:r>
            <a:r>
              <a:rPr sz="2450" spc="-55" dirty="0">
                <a:latin typeface="Times New Roman" panose="02020603050405020304" pitchFamily="18" charset="0"/>
                <a:cs typeface="Times New Roman" panose="02020603050405020304" pitchFamily="18" charset="0"/>
              </a:rPr>
              <a:t> </a:t>
            </a:r>
            <a:r>
              <a:rPr sz="2450" spc="-130" dirty="0">
                <a:latin typeface="Times New Roman" panose="02020603050405020304" pitchFamily="18" charset="0"/>
                <a:cs typeface="Times New Roman" panose="02020603050405020304" pitchFamily="18" charset="0"/>
              </a:rPr>
              <a:t>University,</a:t>
            </a:r>
            <a:r>
              <a:rPr sz="2450" spc="65" dirty="0">
                <a:latin typeface="Times New Roman" panose="02020603050405020304" pitchFamily="18" charset="0"/>
                <a:cs typeface="Times New Roman" panose="02020603050405020304" pitchFamily="18" charset="0"/>
              </a:rPr>
              <a:t> </a:t>
            </a:r>
            <a:r>
              <a:rPr lang="en-US" sz="2450" spc="65" dirty="0">
                <a:latin typeface="Times New Roman" panose="02020603050405020304" pitchFamily="18" charset="0"/>
                <a:cs typeface="Times New Roman" panose="02020603050405020304" pitchFamily="18" charset="0"/>
              </a:rPr>
              <a:t>Lucknow </a:t>
            </a:r>
            <a:endParaRPr sz="2450" dirty="0">
              <a:latin typeface="Times New Roman" panose="02020603050405020304" pitchFamily="18" charset="0"/>
              <a:cs typeface="Times New Roman" panose="02020603050405020304" pitchFamily="18" charset="0"/>
            </a:endParaRPr>
          </a:p>
          <a:p>
            <a:pPr marL="2414270" algn="l">
              <a:lnSpc>
                <a:spcPts val="2745"/>
              </a:lnSpc>
            </a:pPr>
            <a:r>
              <a:rPr sz="2400" spc="-55" dirty="0">
                <a:latin typeface="Times New Roman" panose="02020603050405020304" pitchFamily="18" charset="0"/>
                <a:cs typeface="Times New Roman" panose="02020603050405020304" pitchFamily="18" charset="0"/>
              </a:rPr>
              <a:t>(2025-</a:t>
            </a:r>
            <a:r>
              <a:rPr sz="2400" spc="-25" dirty="0">
                <a:latin typeface="Times New Roman" panose="02020603050405020304" pitchFamily="18" charset="0"/>
                <a:cs typeface="Times New Roman" panose="02020603050405020304" pitchFamily="18" charset="0"/>
              </a:rPr>
              <a:t>26)</a:t>
            </a:r>
            <a:endParaRPr sz="2400" dirty="0">
              <a:latin typeface="Times New Roman" panose="020206030504050203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49C478B7-BA5D-EB98-5941-3B54EFB5FA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9333" y="3532003"/>
            <a:ext cx="2143125" cy="21431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60803" y="1104900"/>
            <a:ext cx="3687397" cy="536044"/>
          </a:xfrm>
          <a:prstGeom prst="rect">
            <a:avLst/>
          </a:prstGeom>
        </p:spPr>
        <p:txBody>
          <a:bodyPr vert="horz" wrap="square" lIns="0" tIns="12700" rIns="0" bIns="0" rtlCol="0">
            <a:spAutoFit/>
          </a:bodyPr>
          <a:lstStyle/>
          <a:p>
            <a:pPr marL="12700" algn="l">
              <a:lnSpc>
                <a:spcPct val="100000"/>
              </a:lnSpc>
              <a:spcBef>
                <a:spcPts val="100"/>
              </a:spcBef>
            </a:pPr>
            <a:r>
              <a:rPr sz="3400" b="1" u="sng" spc="-254" dirty="0">
                <a:latin typeface="Times New Roman" panose="02020603050405020304" pitchFamily="18" charset="0"/>
                <a:cs typeface="Times New Roman" panose="02020603050405020304" pitchFamily="18" charset="0"/>
              </a:rPr>
              <a:t>Problem</a:t>
            </a:r>
            <a:r>
              <a:rPr sz="3400" b="1" u="sng" spc="-45" dirty="0">
                <a:latin typeface="Times New Roman" panose="02020603050405020304" pitchFamily="18" charset="0"/>
                <a:cs typeface="Times New Roman" panose="02020603050405020304" pitchFamily="18" charset="0"/>
              </a:rPr>
              <a:t> </a:t>
            </a:r>
            <a:r>
              <a:rPr sz="3400" b="1" u="sng" spc="-204" dirty="0">
                <a:latin typeface="Times New Roman" panose="02020603050405020304" pitchFamily="18" charset="0"/>
                <a:cs typeface="Times New Roman" panose="02020603050405020304" pitchFamily="18" charset="0"/>
              </a:rPr>
              <a:t>Statement</a:t>
            </a:r>
            <a:r>
              <a:rPr lang="en-US" sz="3400" b="1" u="sng" spc="-204" dirty="0">
                <a:latin typeface="Times New Roman" panose="02020603050405020304" pitchFamily="18" charset="0"/>
                <a:cs typeface="Times New Roman" panose="02020603050405020304" pitchFamily="18" charset="0"/>
              </a:rPr>
              <a:t>:-</a:t>
            </a:r>
            <a:endParaRPr sz="3400" b="1" u="sng" dirty="0">
              <a:latin typeface="Times New Roman" panose="02020603050405020304" pitchFamily="18" charset="0"/>
              <a:cs typeface="Times New Roman" panose="02020603050405020304" pitchFamily="18" charset="0"/>
            </a:endParaRPr>
          </a:p>
        </p:txBody>
      </p:sp>
      <p:sp>
        <p:nvSpPr>
          <p:cNvPr id="3" name="object 3"/>
          <p:cNvSpPr txBox="1"/>
          <p:nvPr/>
        </p:nvSpPr>
        <p:spPr>
          <a:xfrm>
            <a:off x="960803" y="1943100"/>
            <a:ext cx="14570710" cy="1491434"/>
          </a:xfrm>
          <a:prstGeom prst="rect">
            <a:avLst/>
          </a:prstGeom>
        </p:spPr>
        <p:txBody>
          <a:bodyPr vert="horz" wrap="square" lIns="0" tIns="13970" rIns="0" bIns="0" rtlCol="0">
            <a:spAutoFit/>
          </a:bodyPr>
          <a:lstStyle/>
          <a:p>
            <a:pPr marL="12065" marR="5080" algn="l">
              <a:lnSpc>
                <a:spcPct val="100000"/>
              </a:lnSpc>
              <a:spcBef>
                <a:spcPts val="110"/>
              </a:spcBef>
            </a:pPr>
            <a:r>
              <a:rPr lang="en-US" sz="2400" dirty="0">
                <a:latin typeface="Times New Roman" panose="02020603050405020304" pitchFamily="18" charset="0"/>
                <a:cs typeface="Times New Roman" panose="02020603050405020304" pitchFamily="18" charset="0"/>
              </a:rPr>
              <a:t>In most canteen, managing daily tasks manually often becomes time-consuming and unorganized. Simple things like updating the menu, keeping track of stock, and handling orders take a lot of effort and can lead to mistakes. This sometimes causes delays, wrong orders, and wastage, which affects both the customer experience and how smoothly the canteen run.</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485900"/>
            <a:ext cx="4120527" cy="536044"/>
          </a:xfrm>
          <a:prstGeom prst="rect">
            <a:avLst/>
          </a:prstGeom>
        </p:spPr>
        <p:txBody>
          <a:bodyPr vert="horz" wrap="square" lIns="0" tIns="12700" rIns="0" bIns="0" rtlCol="0">
            <a:spAutoFit/>
          </a:bodyPr>
          <a:lstStyle/>
          <a:p>
            <a:pPr marL="12700" algn="l">
              <a:lnSpc>
                <a:spcPct val="100000"/>
              </a:lnSpc>
              <a:spcBef>
                <a:spcPts val="100"/>
              </a:spcBef>
            </a:pPr>
            <a:r>
              <a:rPr lang="en-US" sz="3300" b="1" dirty="0"/>
              <a:t> </a:t>
            </a:r>
            <a:r>
              <a:rPr lang="en-US" sz="3400" b="1" u="sng" dirty="0">
                <a:latin typeface="Times New Roman" panose="02020603050405020304" pitchFamily="18" charset="0"/>
                <a:cs typeface="Times New Roman" panose="02020603050405020304" pitchFamily="18" charset="0"/>
              </a:rPr>
              <a:t>Project </a:t>
            </a:r>
            <a:r>
              <a:rPr sz="3400" b="1" u="sng" dirty="0">
                <a:latin typeface="Times New Roman" panose="02020603050405020304" pitchFamily="18" charset="0"/>
                <a:cs typeface="Times New Roman" panose="02020603050405020304" pitchFamily="18" charset="0"/>
              </a:rPr>
              <a:t>Objective</a:t>
            </a:r>
            <a:r>
              <a:rPr lang="en-US" sz="3400" u="sng" dirty="0">
                <a:latin typeface="Times New Roman" panose="02020603050405020304" pitchFamily="18" charset="0"/>
                <a:cs typeface="Times New Roman" panose="02020603050405020304" pitchFamily="18" charset="0"/>
              </a:rPr>
              <a:t>:-</a:t>
            </a:r>
            <a:endParaRPr sz="3400" u="sng" dirty="0">
              <a:latin typeface="Times New Roman" panose="02020603050405020304" pitchFamily="18" charset="0"/>
              <a:cs typeface="Times New Roman" panose="02020603050405020304" pitchFamily="18" charset="0"/>
            </a:endParaRPr>
          </a:p>
        </p:txBody>
      </p:sp>
      <p:sp>
        <p:nvSpPr>
          <p:cNvPr id="3" name="object 3"/>
          <p:cNvSpPr txBox="1"/>
          <p:nvPr/>
        </p:nvSpPr>
        <p:spPr>
          <a:xfrm>
            <a:off x="1371600" y="2476500"/>
            <a:ext cx="13491210" cy="1359346"/>
          </a:xfrm>
          <a:prstGeom prst="rect">
            <a:avLst/>
          </a:prstGeom>
        </p:spPr>
        <p:txBody>
          <a:bodyPr vert="horz" wrap="square" lIns="0" tIns="25400" rIns="0" bIns="0" rtlCol="0">
            <a:spAutoFit/>
          </a:bodyPr>
          <a:lstStyle/>
          <a:p>
            <a:pPr marL="12700" marR="5080" indent="3175" algn="l">
              <a:lnSpc>
                <a:spcPts val="2620"/>
              </a:lnSpc>
              <a:spcBef>
                <a:spcPts val="200"/>
              </a:spcBef>
            </a:pPr>
            <a:r>
              <a:rPr lang="en-US" sz="2400" dirty="0">
                <a:latin typeface="Times New Roman" panose="02020603050405020304" pitchFamily="18" charset="0"/>
                <a:cs typeface="Times New Roman" panose="02020603050405020304" pitchFamily="18" charset="0"/>
              </a:rPr>
              <a:t>The main goal of this project is to create a Canteen Management System that makes managing the canteen easier and more efficient. It’s designed mainly for the admin to help with tasks like updating the menu, keeping track of stock, handling orders, and getting real-time feedback. This system will help speed up daily operations, reduce manual work, and make the overall experience better for both staff and customers.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1014" y="1028700"/>
            <a:ext cx="3682038" cy="536044"/>
          </a:xfrm>
          <a:prstGeom prst="rect">
            <a:avLst/>
          </a:prstGeom>
        </p:spPr>
        <p:txBody>
          <a:bodyPr vert="horz" wrap="square" lIns="0" tIns="12700" rIns="0" bIns="0" rtlCol="0">
            <a:spAutoFit/>
          </a:bodyPr>
          <a:lstStyle/>
          <a:p>
            <a:pPr marL="12700" algn="l">
              <a:lnSpc>
                <a:spcPct val="100000"/>
              </a:lnSpc>
              <a:spcBef>
                <a:spcPts val="100"/>
              </a:spcBef>
            </a:pPr>
            <a:r>
              <a:rPr sz="3400" b="1" u="sng" spc="-50" dirty="0">
                <a:latin typeface="Times New Roman" panose="02020603050405020304" pitchFamily="18" charset="0"/>
                <a:cs typeface="Times New Roman" panose="02020603050405020304" pitchFamily="18" charset="0"/>
              </a:rPr>
              <a:t>Literature</a:t>
            </a:r>
            <a:r>
              <a:rPr sz="3400" b="1" u="sng" spc="-140" dirty="0">
                <a:latin typeface="Times New Roman" panose="02020603050405020304" pitchFamily="18" charset="0"/>
                <a:cs typeface="Times New Roman" panose="02020603050405020304" pitchFamily="18" charset="0"/>
              </a:rPr>
              <a:t> </a:t>
            </a:r>
            <a:r>
              <a:rPr sz="3400" b="1" u="sng" spc="-10" dirty="0">
                <a:latin typeface="Times New Roman" panose="02020603050405020304" pitchFamily="18" charset="0"/>
                <a:cs typeface="Times New Roman" panose="02020603050405020304" pitchFamily="18" charset="0"/>
              </a:rPr>
              <a:t>Survey</a:t>
            </a:r>
            <a:r>
              <a:rPr lang="en-US" sz="3400" b="1" u="sng" spc="-10" dirty="0">
                <a:latin typeface="Times New Roman" panose="02020603050405020304" pitchFamily="18" charset="0"/>
                <a:cs typeface="Times New Roman" panose="02020603050405020304" pitchFamily="18" charset="0"/>
              </a:rPr>
              <a:t>:-</a:t>
            </a:r>
            <a:endParaRPr sz="3400" b="1" u="sng" dirty="0">
              <a:latin typeface="Times New Roman" panose="02020603050405020304" pitchFamily="18" charset="0"/>
              <a:cs typeface="Times New Roman" panose="02020603050405020304" pitchFamily="18" charset="0"/>
            </a:endParaRPr>
          </a:p>
        </p:txBody>
      </p:sp>
      <p:sp>
        <p:nvSpPr>
          <p:cNvPr id="3" name="object 3"/>
          <p:cNvSpPr txBox="1">
            <a:spLocks noGrp="1"/>
          </p:cNvSpPr>
          <p:nvPr>
            <p:ph type="body" idx="1"/>
          </p:nvPr>
        </p:nvSpPr>
        <p:spPr>
          <a:xfrm>
            <a:off x="1575762" y="2019300"/>
            <a:ext cx="14883438" cy="7529304"/>
          </a:xfrm>
          <a:prstGeom prst="rect">
            <a:avLst/>
          </a:prstGeom>
        </p:spPr>
        <p:txBody>
          <a:bodyPr vert="horz" wrap="square" lIns="0" tIns="61594" rIns="0" bIns="0" rtlCol="0">
            <a:spAutoFit/>
          </a:bodyPr>
          <a:lstStyle/>
          <a:p>
            <a:pPr marL="342900" indent="-342900" algn="l">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“QR-Based Canteen Management System”                                                                                               [2024]</a:t>
            </a:r>
          </a:p>
          <a:p>
            <a:pPr algn="l"/>
            <a:r>
              <a:rPr lang="en-US" sz="2400" dirty="0">
                <a:latin typeface="Times New Roman" panose="02020603050405020304" pitchFamily="18" charset="0"/>
                <a:cs typeface="Times New Roman" panose="02020603050405020304" pitchFamily="18" charset="0"/>
              </a:rPr>
              <a:t>This paper presents a canteen management system using QR codes for login, ordering, and payments. It focuses on reducing wait times and improving order accuracy through a digital and contactless process. While it offers faster transactions, it lacks real-time menu updates and stock tracking. The system is mainly centered around automation of ordering but limited in admin-side control.</a:t>
            </a:r>
          </a:p>
          <a:p>
            <a:pPr marL="12700" marR="1133475" indent="12065" algn="l">
              <a:lnSpc>
                <a:spcPct val="87000"/>
              </a:lnSpc>
              <a:spcBef>
                <a:spcPts val="485"/>
              </a:spcBef>
            </a:pPr>
            <a:endParaRPr lang="en-US" sz="2400" spc="-90" dirty="0">
              <a:latin typeface="Times New Roman" panose="02020603050405020304" pitchFamily="18" charset="0"/>
              <a:cs typeface="Times New Roman" panose="02020603050405020304" pitchFamily="18" charset="0"/>
            </a:endParaRPr>
          </a:p>
          <a:p>
            <a:pPr marL="12700" marR="1133475" indent="12065" algn="l">
              <a:lnSpc>
                <a:spcPct val="87000"/>
              </a:lnSpc>
              <a:spcBef>
                <a:spcPts val="485"/>
              </a:spcBef>
            </a:pPr>
            <a:endParaRPr lang="en-US" sz="2400" spc="-9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 Review on Smart Canteen Management System”                                                                                [2023]</a:t>
            </a:r>
          </a:p>
          <a:p>
            <a:pPr algn="l"/>
            <a:r>
              <a:rPr lang="en-US" sz="2400" dirty="0">
                <a:latin typeface="Times New Roman" panose="02020603050405020304" pitchFamily="18" charset="0"/>
                <a:cs typeface="Times New Roman" panose="02020603050405020304" pitchFamily="18" charset="0"/>
              </a:rPr>
              <a:t>This paper reviews various smart canteen technologies like RFID, Android-based systems, and automated billing. It highlights the benefits of reduced manual work, quicker service, and better customer handling. However, it mainly surveys existing technologies without proposing a fully integrated or real-time system. Features like customer feedback and dynamic menu control are not discussed.</a:t>
            </a:r>
          </a:p>
          <a:p>
            <a:pPr marL="12700" marR="1133475" indent="12065" algn="l">
              <a:lnSpc>
                <a:spcPct val="87000"/>
              </a:lnSpc>
              <a:spcBef>
                <a:spcPts val="485"/>
              </a:spcBef>
            </a:pPr>
            <a:endParaRPr lang="en-US" sz="2400" spc="-90" dirty="0">
              <a:latin typeface="Times New Roman" panose="02020603050405020304" pitchFamily="18" charset="0"/>
              <a:cs typeface="Times New Roman" panose="02020603050405020304" pitchFamily="18" charset="0"/>
            </a:endParaRPr>
          </a:p>
          <a:p>
            <a:pPr marL="12700" marR="1133475" indent="12065" algn="l">
              <a:lnSpc>
                <a:spcPct val="87000"/>
              </a:lnSpc>
              <a:spcBef>
                <a:spcPts val="485"/>
              </a:spcBef>
            </a:pPr>
            <a:endParaRPr lang="en-IN" sz="2400" spc="-90" dirty="0">
              <a:latin typeface="Times New Roman" panose="02020603050405020304" pitchFamily="18" charset="0"/>
              <a:cs typeface="Times New Roman" panose="02020603050405020304" pitchFamily="18" charset="0"/>
            </a:endParaRPr>
          </a:p>
          <a:p>
            <a:pPr marL="342900" indent="-342900" algn="l">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“Canteen Food Ordering and Managing System”                                                                                      [2022]</a:t>
            </a:r>
          </a:p>
          <a:p>
            <a:pPr algn="l"/>
            <a:r>
              <a:rPr lang="en-US" sz="2400" dirty="0">
                <a:latin typeface="Times New Roman" panose="02020603050405020304" pitchFamily="18" charset="0"/>
                <a:cs typeface="Times New Roman" panose="02020603050405020304" pitchFamily="18" charset="0"/>
              </a:rPr>
              <a:t>This project introduces an online food ordering system for canteens with account-based login, order tracking, and digital payments. It aims to reduce queues and manage orders more efficiently using a virtual queue method. While useful, the system lacks features like real-time inventory updates, admin dashboard, or feedback collection. The focus is mostly on order placement and time-saving.</a:t>
            </a:r>
          </a:p>
          <a:p>
            <a:pPr marL="12700" marR="1133475" algn="l">
              <a:lnSpc>
                <a:spcPct val="87000"/>
              </a:lnSpc>
              <a:spcBef>
                <a:spcPts val="485"/>
              </a:spcBef>
            </a:pPr>
            <a:r>
              <a:rPr lang="en-US" sz="2400" dirty="0">
                <a:latin typeface="Times New Roman" panose="02020603050405020304" pitchFamily="18" charset="0"/>
                <a:cs typeface="Times New Roman" panose="02020603050405020304" pitchFamily="18" charset="0"/>
              </a:rPr>
              <a:t>.</a:t>
            </a:r>
            <a:endParaRPr lang="en-US" sz="2400" b="1" spc="-9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747302"/>
            <a:ext cx="10377170" cy="536044"/>
          </a:xfrm>
          <a:prstGeom prst="rect">
            <a:avLst/>
          </a:prstGeom>
        </p:spPr>
        <p:txBody>
          <a:bodyPr vert="horz" wrap="square" lIns="0" tIns="12700" rIns="0" bIns="0" rtlCol="0">
            <a:spAutoFit/>
          </a:bodyPr>
          <a:lstStyle/>
          <a:p>
            <a:pPr marL="12700" algn="l">
              <a:lnSpc>
                <a:spcPct val="100000"/>
              </a:lnSpc>
              <a:spcBef>
                <a:spcPts val="100"/>
              </a:spcBef>
            </a:pPr>
            <a:r>
              <a:rPr sz="3400" b="1" u="sng" dirty="0">
                <a:latin typeface="Times New Roman" panose="02020603050405020304" pitchFamily="18" charset="0"/>
                <a:cs typeface="Times New Roman" panose="02020603050405020304" pitchFamily="18" charset="0"/>
              </a:rPr>
              <a:t>Technical</a:t>
            </a:r>
            <a:r>
              <a:rPr sz="3400" b="1" u="sng" spc="-155" dirty="0">
                <a:latin typeface="Times New Roman" panose="02020603050405020304" pitchFamily="18" charset="0"/>
                <a:cs typeface="Times New Roman" panose="02020603050405020304" pitchFamily="18" charset="0"/>
              </a:rPr>
              <a:t> </a:t>
            </a:r>
            <a:r>
              <a:rPr sz="3400" b="1" u="sng" spc="65" dirty="0">
                <a:latin typeface="Times New Roman" panose="02020603050405020304" pitchFamily="18" charset="0"/>
                <a:cs typeface="Times New Roman" panose="02020603050405020304" pitchFamily="18" charset="0"/>
              </a:rPr>
              <a:t>details</a:t>
            </a:r>
            <a:r>
              <a:rPr lang="en-US" sz="3400" b="1" u="sng" spc="65" dirty="0">
                <a:latin typeface="Times New Roman" panose="02020603050405020304" pitchFamily="18" charset="0"/>
                <a:cs typeface="Times New Roman" panose="02020603050405020304" pitchFamily="18" charset="0"/>
              </a:rPr>
              <a:t>:-</a:t>
            </a:r>
            <a:endParaRPr sz="3400" b="1" u="sng"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2483CC1E-9A6E-057C-4C20-92F1DA036E47}"/>
              </a:ext>
            </a:extLst>
          </p:cNvPr>
          <p:cNvSpPr txBox="1"/>
          <p:nvPr/>
        </p:nvSpPr>
        <p:spPr>
          <a:xfrm flipH="1">
            <a:off x="914399" y="1770608"/>
            <a:ext cx="12877800" cy="3724096"/>
          </a:xfrm>
          <a:prstGeom prst="rect">
            <a:avLst/>
          </a:prstGeom>
          <a:noFill/>
        </p:spPr>
        <p:txBody>
          <a:bodyPr wrap="square" rtlCol="0">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Frontend Languages:-</a:t>
            </a:r>
            <a:r>
              <a:rPr lang="en-IN" sz="2400" dirty="0">
                <a:latin typeface="Times New Roman" panose="02020603050405020304" pitchFamily="18" charset="0"/>
                <a:cs typeface="Times New Roman" panose="02020603050405020304" pitchFamily="18" charset="0"/>
              </a:rPr>
              <a:t>HTML (Hyper Text Markup Language), CSS (Cascading Style Sheets), JavaScript </a:t>
            </a:r>
          </a:p>
          <a:p>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Backend :- </a:t>
            </a:r>
            <a:r>
              <a:rPr lang="en-US" sz="2400" dirty="0">
                <a:latin typeface="Times New Roman" panose="02020603050405020304" pitchFamily="18" charset="0"/>
                <a:cs typeface="Times New Roman" panose="02020603050405020304" pitchFamily="18" charset="0"/>
              </a:rPr>
              <a:t>Node.js/Express server with Mongoose.</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Database:- </a:t>
            </a:r>
            <a:r>
              <a:rPr lang="en-IN" sz="2400" dirty="0" err="1">
                <a:latin typeface="Times New Roman" panose="02020603050405020304" pitchFamily="18" charset="0"/>
                <a:cs typeface="Times New Roman" panose="02020603050405020304" pitchFamily="18" charset="0"/>
              </a:rPr>
              <a:t>Mongodb</a:t>
            </a:r>
            <a:r>
              <a:rPr lang="en-IN" sz="2400" b="1"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Development Tools:-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algn="l"/>
            <a:r>
              <a:rPr lang="en-IN" sz="2200" dirty="0">
                <a:latin typeface="Times New Roman" panose="02020603050405020304" pitchFamily="18" charset="0"/>
                <a:cs typeface="Times New Roman" panose="02020603050405020304" pitchFamily="18" charset="0"/>
              </a:rPr>
              <a:t> </a:t>
            </a:r>
          </a:p>
        </p:txBody>
      </p:sp>
      <p:sp>
        <p:nvSpPr>
          <p:cNvPr id="29" name="TextBox 28">
            <a:extLst>
              <a:ext uri="{FF2B5EF4-FFF2-40B4-BE49-F238E27FC236}">
                <a16:creationId xmlns:a16="http://schemas.microsoft.com/office/drawing/2014/main" id="{9A009792-68A0-E8B3-DFAC-71E7D1F61476}"/>
              </a:ext>
            </a:extLst>
          </p:cNvPr>
          <p:cNvSpPr txBox="1"/>
          <p:nvPr/>
        </p:nvSpPr>
        <p:spPr>
          <a:xfrm>
            <a:off x="2057400" y="5079205"/>
            <a:ext cx="11887200" cy="830997"/>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Code Editor: </a:t>
            </a:r>
            <a:r>
              <a:rPr lang="en-US" sz="2400" dirty="0">
                <a:latin typeface="Times New Roman" panose="02020603050405020304" pitchFamily="18" charset="0"/>
                <a:cs typeface="Times New Roman" panose="02020603050405020304" pitchFamily="18" charset="0"/>
              </a:rPr>
              <a:t>Such as </a:t>
            </a:r>
            <a:r>
              <a:rPr lang="en-US" sz="2400" dirty="0" err="1">
                <a:latin typeface="Times New Roman" panose="02020603050405020304" pitchFamily="18" charset="0"/>
                <a:cs typeface="Times New Roman" panose="02020603050405020304" pitchFamily="18" charset="0"/>
              </a:rPr>
              <a:t>Eclipse,Visual</a:t>
            </a:r>
            <a:r>
              <a:rPr lang="en-US" sz="2400" dirty="0">
                <a:latin typeface="Times New Roman" panose="02020603050405020304" pitchFamily="18" charset="0"/>
                <a:cs typeface="Times New Roman" panose="02020603050405020304" pitchFamily="18" charset="0"/>
              </a:rPr>
              <a:t> Studio Code</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Browser: </a:t>
            </a:r>
            <a:r>
              <a:rPr lang="en-US" sz="2400" dirty="0">
                <a:latin typeface="Times New Roman" panose="02020603050405020304" pitchFamily="18" charset="0"/>
                <a:cs typeface="Times New Roman" panose="02020603050405020304" pitchFamily="18" charset="0"/>
              </a:rPr>
              <a:t>Google Chrome, Firefox, or any modern web browser for testing and debugging.</a:t>
            </a:r>
            <a:endParaRPr lang="en-IN" sz="2400" dirty="0">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093D3209-1880-5245-FDB6-05A5D5C2355C}"/>
              </a:ext>
            </a:extLst>
          </p:cNvPr>
          <p:cNvSpPr txBox="1"/>
          <p:nvPr/>
        </p:nvSpPr>
        <p:spPr>
          <a:xfrm>
            <a:off x="914399" y="6505186"/>
            <a:ext cx="5811206" cy="461665"/>
          </a:xfrm>
          <a:prstGeom prst="rect">
            <a:avLst/>
          </a:prstGeom>
          <a:noFill/>
        </p:spPr>
        <p:txBody>
          <a:bodyPr wrap="none" rtlCol="0">
            <a:spAutoFit/>
          </a:bodyPr>
          <a:lstStyle/>
          <a:p>
            <a:pPr marL="342900" indent="-342900" algn="l">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Version Control:- </a:t>
            </a:r>
            <a:r>
              <a:rPr lang="en-US" sz="2400" dirty="0">
                <a:latin typeface="Times New Roman" panose="02020603050405020304" pitchFamily="18" charset="0"/>
                <a:cs typeface="Times New Roman" panose="02020603050405020304" pitchFamily="18" charset="0"/>
              </a:rPr>
              <a:t>Git and GitHub/GitLab</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F5802-4954-B339-DA06-DE4C5694D61D}"/>
              </a:ext>
            </a:extLst>
          </p:cNvPr>
          <p:cNvSpPr>
            <a:spLocks noGrp="1"/>
          </p:cNvSpPr>
          <p:nvPr>
            <p:ph type="title"/>
          </p:nvPr>
        </p:nvSpPr>
        <p:spPr>
          <a:xfrm>
            <a:off x="677906" y="606297"/>
            <a:ext cx="3665493" cy="523220"/>
          </a:xfrm>
        </p:spPr>
        <p:txBody>
          <a:bodyPr/>
          <a:lstStyle/>
          <a:p>
            <a:r>
              <a:rPr lang="en-IN" sz="3400" b="1" u="sng" dirty="0">
                <a:latin typeface="Times New Roman" panose="02020603050405020304" pitchFamily="18" charset="0"/>
                <a:cs typeface="Times New Roman" panose="02020603050405020304" pitchFamily="18" charset="0"/>
              </a:rPr>
              <a:t>Methodology</a:t>
            </a:r>
            <a:r>
              <a:rPr lang="en-IN" sz="3400" b="1"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2B7FCB37-7D47-5CDE-F0A5-060B2698A3DA}"/>
              </a:ext>
            </a:extLst>
          </p:cNvPr>
          <p:cNvSpPr>
            <a:spLocks noGrp="1"/>
          </p:cNvSpPr>
          <p:nvPr>
            <p:ph type="body" idx="1"/>
          </p:nvPr>
        </p:nvSpPr>
        <p:spPr>
          <a:xfrm>
            <a:off x="702487" y="1485900"/>
            <a:ext cx="15539050" cy="8571577"/>
          </a:xfrm>
        </p:spPr>
        <p:txBody>
          <a:bodyPr/>
          <a:lstStyle/>
          <a:p>
            <a:r>
              <a:rPr lang="en-IN" sz="2800" b="1" dirty="0">
                <a:latin typeface="Times New Roman" panose="02020603050405020304" pitchFamily="18" charset="0"/>
                <a:cs typeface="Times New Roman" panose="02020603050405020304" pitchFamily="18" charset="0"/>
              </a:rPr>
              <a:t>Development Steps:</a:t>
            </a:r>
          </a:p>
          <a:p>
            <a:endParaRPr lang="en-IN" sz="2400" b="1" dirty="0">
              <a:latin typeface="Times New Roman" panose="02020603050405020304" pitchFamily="18" charset="0"/>
              <a:cs typeface="Times New Roman" panose="02020603050405020304" pitchFamily="18" charset="0"/>
            </a:endParaRPr>
          </a:p>
          <a:p>
            <a:pPr marL="457200" indent="-457200" algn="just">
              <a:lnSpc>
                <a:spcPct val="150000"/>
              </a:lnSpc>
              <a:buAutoNum type="arabicPeriod"/>
            </a:pPr>
            <a:r>
              <a:rPr lang="en-IN" sz="2400" b="1" dirty="0">
                <a:latin typeface="Times New Roman" panose="02020603050405020304" pitchFamily="18" charset="0"/>
                <a:cs typeface="Times New Roman" panose="02020603050405020304" pitchFamily="18" charset="0"/>
              </a:rPr>
              <a:t>Requirement Analysis: </a:t>
            </a:r>
            <a:r>
              <a:rPr lang="en-US" sz="2400" dirty="0">
                <a:latin typeface="Times New Roman" panose="02020603050405020304" pitchFamily="18" charset="0"/>
                <a:cs typeface="Times New Roman" panose="02020603050405020304" pitchFamily="18" charset="0"/>
              </a:rPr>
              <a:t>Defined the project goals for a multi-portal canteen system. Identified three main user roles: Customer, Admin, and Kitchen.</a:t>
            </a:r>
            <a:r>
              <a:rPr lang="en-IN" sz="2400" b="1" dirty="0">
                <a:latin typeface="Times New Roman" panose="02020603050405020304" pitchFamily="18" charset="0"/>
                <a:cs typeface="Times New Roman" panose="02020603050405020304" pitchFamily="18" charset="0"/>
              </a:rPr>
              <a:t> </a:t>
            </a:r>
          </a:p>
          <a:p>
            <a:pPr marL="457200" indent="-457200" algn="just">
              <a:lnSpc>
                <a:spcPct val="150000"/>
              </a:lnSpc>
              <a:buAutoNum type="arabicPeriod"/>
            </a:pPr>
            <a:r>
              <a:rPr lang="en-IN" sz="2400" b="1" dirty="0">
                <a:latin typeface="Times New Roman" panose="02020603050405020304" pitchFamily="18" charset="0"/>
                <a:cs typeface="Times New Roman" panose="02020603050405020304" pitchFamily="18" charset="0"/>
              </a:rPr>
              <a:t>System Design: </a:t>
            </a:r>
            <a:r>
              <a:rPr lang="en-US" sz="2400" b="1" i="1" dirty="0"/>
              <a:t> </a:t>
            </a:r>
            <a:r>
              <a:rPr lang="en-US" sz="2400" dirty="0">
                <a:latin typeface="Times New Roman" panose="02020603050405020304" pitchFamily="18" charset="0"/>
                <a:cs typeface="Times New Roman" panose="02020603050405020304" pitchFamily="18" charset="0"/>
              </a:rPr>
              <a:t>Planning the architecture, database structure, and overall flow.</a:t>
            </a:r>
          </a:p>
          <a:p>
            <a:pPr marL="457200" indent="-457200" algn="just">
              <a:lnSpc>
                <a:spcPct val="150000"/>
              </a:lnSpc>
              <a:buFontTx/>
              <a:buAutoNum type="arabicPeriod"/>
            </a:pPr>
            <a:r>
              <a:rPr lang="en-IN" sz="2400" b="1" dirty="0">
                <a:latin typeface="Times New Roman" panose="02020603050405020304" pitchFamily="18" charset="0"/>
                <a:cs typeface="Times New Roman" panose="02020603050405020304" pitchFamily="18" charset="0"/>
              </a:rPr>
              <a:t>Frontend and Backend Development:</a:t>
            </a:r>
            <a:r>
              <a:rPr lang="en-US" sz="2400" dirty="0"/>
              <a:t> </a:t>
            </a:r>
            <a:r>
              <a:rPr lang="en-US" sz="2400" dirty="0">
                <a:latin typeface="Times New Roman" panose="02020603050405020304" pitchFamily="18" charset="0"/>
                <a:cs typeface="Times New Roman" panose="02020603050405020304" pitchFamily="18" charset="0"/>
              </a:rPr>
              <a:t>Creating a three </a:t>
            </a:r>
            <a:r>
              <a:rPr lang="en-IN" sz="2400" dirty="0">
                <a:latin typeface="Times New Roman" panose="02020603050405020304" pitchFamily="18" charset="0"/>
                <a:cs typeface="Times New Roman" panose="02020603050405020304" pitchFamily="18" charset="0"/>
              </a:rPr>
              <a:t>separate</a:t>
            </a:r>
            <a:r>
              <a:rPr lang="en-IN" sz="2400" dirty="0"/>
              <a:t> </a:t>
            </a:r>
            <a:r>
              <a:rPr lang="en-US" sz="2400" dirty="0">
                <a:latin typeface="Times New Roman" panose="02020603050405020304" pitchFamily="18" charset="0"/>
                <a:cs typeface="Times New Roman" panose="02020603050405020304" pitchFamily="18" charset="0"/>
              </a:rPr>
              <a:t>user-friendly portals </a:t>
            </a:r>
            <a:r>
              <a:rPr lang="en-IN" sz="2400" dirty="0">
                <a:latin typeface="Times New Roman" panose="02020603050405020304" pitchFamily="18" charset="0"/>
                <a:cs typeface="Times New Roman" panose="02020603050405020304" pitchFamily="18" charset="0"/>
              </a:rPr>
              <a:t>(Customer, Admin, Kitchen)</a:t>
            </a:r>
            <a:r>
              <a:rPr lang="en-US" sz="2400" dirty="0">
                <a:latin typeface="Times New Roman" panose="02020603050405020304" pitchFamily="18" charset="0"/>
                <a:cs typeface="Times New Roman" panose="02020603050405020304" pitchFamily="18" charset="0"/>
              </a:rPr>
              <a:t> by using HTML, CSS, Java script and robust backend using Node.js/Express server with Mongoose to connect to MongoDB</a:t>
            </a:r>
            <a:r>
              <a:rPr lang="en-US" sz="2400" dirty="0"/>
              <a:t>.</a:t>
            </a:r>
          </a:p>
          <a:p>
            <a:pPr marL="457200" indent="-457200" algn="just">
              <a:lnSpc>
                <a:spcPct val="150000"/>
              </a:lnSpc>
              <a:buFontTx/>
              <a:buAutoNum type="arabicPeriod"/>
            </a:pPr>
            <a:r>
              <a:rPr lang="en-IN" sz="2400" b="1" dirty="0">
                <a:latin typeface="Times New Roman" panose="02020603050405020304" pitchFamily="18" charset="0"/>
                <a:cs typeface="Times New Roman" panose="02020603050405020304" pitchFamily="18" charset="0"/>
              </a:rPr>
              <a:t>Integration &amp; Testing: </a:t>
            </a:r>
            <a:r>
              <a:rPr lang="en-US" sz="2400" dirty="0">
                <a:latin typeface="Times New Roman" panose="02020603050405020304" pitchFamily="18" charset="0"/>
                <a:cs typeface="Times New Roman" panose="02020603050405020304" pitchFamily="18" charset="0"/>
              </a:rPr>
              <a:t>Connected the frontend portals to the backend API to test the full workflow (registration, login, ordering, adding items) and preform usability testing, security testing, and load testing to Ensure the system can handle high-demand periods such as lunchtime.</a:t>
            </a:r>
          </a:p>
          <a:p>
            <a:pPr marL="457200" indent="-457200" algn="just">
              <a:lnSpc>
                <a:spcPct val="150000"/>
              </a:lnSpc>
              <a:buFontTx/>
              <a:buAutoNum type="arabicPeriod"/>
            </a:pPr>
            <a:r>
              <a:rPr lang="en-IN" sz="2400" b="1" dirty="0">
                <a:latin typeface="Times New Roman" panose="02020603050405020304" pitchFamily="18" charset="0"/>
                <a:cs typeface="Times New Roman" panose="02020603050405020304" pitchFamily="18" charset="0"/>
              </a:rPr>
              <a:t>Security Measures: </a:t>
            </a:r>
            <a:r>
              <a:rPr lang="en-US" sz="2400" dirty="0">
                <a:latin typeface="Times New Roman" panose="02020603050405020304" pitchFamily="18" charset="0"/>
                <a:cs typeface="Times New Roman" panose="02020603050405020304" pitchFamily="18" charset="0"/>
              </a:rPr>
              <a:t>Integrated Bcrypt.js to hash and secure all user passwords.</a:t>
            </a:r>
          </a:p>
          <a:p>
            <a:pPr marL="457200" indent="-457200" algn="just">
              <a:lnSpc>
                <a:spcPct val="150000"/>
              </a:lnSpc>
              <a:buFontTx/>
              <a:buAutoNum type="arabicPeriod"/>
            </a:pPr>
            <a:r>
              <a:rPr lang="en-IN" sz="2400" b="1" dirty="0">
                <a:latin typeface="Times New Roman" panose="02020603050405020304" pitchFamily="18" charset="0"/>
                <a:cs typeface="Times New Roman" panose="02020603050405020304" pitchFamily="18" charset="0"/>
              </a:rPr>
              <a:t>Deployment (Cloud-Based):</a:t>
            </a:r>
            <a:r>
              <a:rPr lang="en-US" sz="2400" dirty="0"/>
              <a:t> </a:t>
            </a:r>
            <a:r>
              <a:rPr lang="en-US" sz="2400" dirty="0">
                <a:latin typeface="Times New Roman" panose="02020603050405020304" pitchFamily="18" charset="0"/>
                <a:cs typeface="Times New Roman" panose="02020603050405020304" pitchFamily="18" charset="0"/>
              </a:rPr>
              <a:t>The backend API is connected to </a:t>
            </a:r>
            <a:r>
              <a:rPr lang="en-US" sz="2400" b="1" dirty="0">
                <a:latin typeface="Times New Roman" panose="02020603050405020304" pitchFamily="18" charset="0"/>
                <a:cs typeface="Times New Roman" panose="02020603050405020304" pitchFamily="18" charset="0"/>
              </a:rPr>
              <a:t>MongoDB Atlas</a:t>
            </a:r>
            <a:r>
              <a:rPr lang="en-US" sz="2400" dirty="0">
                <a:latin typeface="Times New Roman" panose="02020603050405020304" pitchFamily="18" charset="0"/>
                <a:cs typeface="Times New Roman" panose="02020603050405020304" pitchFamily="18" charset="0"/>
              </a:rPr>
              <a:t>, a secure cloud database, making it ready for server deployment.</a:t>
            </a:r>
            <a:endParaRPr lang="en-IN" sz="2400" b="1" dirty="0">
              <a:latin typeface="Times New Roman" panose="02020603050405020304" pitchFamily="18" charset="0"/>
              <a:cs typeface="Times New Roman" panose="02020603050405020304" pitchFamily="18" charset="0"/>
            </a:endParaRPr>
          </a:p>
          <a:p>
            <a:pPr marL="457200" indent="-457200" algn="just">
              <a:lnSpc>
                <a:spcPct val="150000"/>
              </a:lnSpc>
              <a:buFontTx/>
              <a:buAutoNum type="arabicPeriod"/>
            </a:pPr>
            <a:endParaRPr lang="en-IN" sz="2400" dirty="0">
              <a:latin typeface="Times New Roman" panose="02020603050405020304" pitchFamily="18" charset="0"/>
              <a:cs typeface="Times New Roman" panose="02020603050405020304" pitchFamily="18" charset="0"/>
            </a:endParaRPr>
          </a:p>
          <a:p>
            <a:pPr marL="457200" indent="-457200" algn="just">
              <a:buFontTx/>
              <a:buAutoNum type="arabicPeriod"/>
            </a:pPr>
            <a:endParaRPr lang="en-IN" sz="2400" b="1" dirty="0">
              <a:latin typeface="Times New Roman" panose="02020603050405020304" pitchFamily="18" charset="0"/>
              <a:cs typeface="Times New Roman" panose="02020603050405020304" pitchFamily="18" charset="0"/>
            </a:endParaRPr>
          </a:p>
          <a:p>
            <a:pPr marL="457200" indent="-457200">
              <a:buAutoNum type="arabicPeriod"/>
            </a:pPr>
            <a:endParaRPr lang="en-IN" sz="24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568600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D68D4-838F-C6BF-90B8-969B111EEB03}"/>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0E8510E6-B2A1-5443-0948-158D6EA49F8A}"/>
              </a:ext>
            </a:extLst>
          </p:cNvPr>
          <p:cNvSpPr>
            <a:spLocks noGrp="1"/>
          </p:cNvSpPr>
          <p:nvPr>
            <p:ph type="body" idx="1"/>
          </p:nvPr>
        </p:nvSpPr>
        <p:spPr/>
        <p:txBody>
          <a:bodyPr/>
          <a:lstStyle/>
          <a:p>
            <a:endParaRPr lang="en-IN"/>
          </a:p>
        </p:txBody>
      </p:sp>
      <p:pic>
        <p:nvPicPr>
          <p:cNvPr id="5" name="Picture 4" descr="A diagram of a computer program">
            <a:extLst>
              <a:ext uri="{FF2B5EF4-FFF2-40B4-BE49-F238E27FC236}">
                <a16:creationId xmlns:a16="http://schemas.microsoft.com/office/drawing/2014/main" id="{A07FDC97-7812-2B63-E713-176189EDA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907" y="606297"/>
            <a:ext cx="16695693" cy="9260892"/>
          </a:xfrm>
          <a:prstGeom prst="rect">
            <a:avLst/>
          </a:prstGeom>
        </p:spPr>
      </p:pic>
      <mc:AlternateContent xmlns:mc="http://schemas.openxmlformats.org/markup-compatibility/2006">
        <mc:Choice xmlns:p14="http://schemas.microsoft.com/office/powerpoint/2010/main" Requires="p14">
          <p:contentPart p14:bwMode="auto" r:id="rId3">
            <p14:nvContentPartPr>
              <p14:cNvPr id="6" name="Ink 5">
                <a:extLst>
                  <a:ext uri="{FF2B5EF4-FFF2-40B4-BE49-F238E27FC236}">
                    <a16:creationId xmlns:a16="http://schemas.microsoft.com/office/drawing/2014/main" id="{8FF39A35-16BA-A005-07F8-41DE9A3A2B9A}"/>
                  </a:ext>
                </a:extLst>
              </p14:cNvPr>
              <p14:cNvContentPartPr/>
              <p14:nvPr/>
            </p14:nvContentPartPr>
            <p14:xfrm>
              <a:off x="6614040" y="1964400"/>
              <a:ext cx="2021760" cy="93960"/>
            </p14:xfrm>
          </p:contentPart>
        </mc:Choice>
        <mc:Fallback>
          <p:pic>
            <p:nvPicPr>
              <p:cNvPr id="6" name="Ink 5">
                <a:extLst>
                  <a:ext uri="{FF2B5EF4-FFF2-40B4-BE49-F238E27FC236}">
                    <a16:creationId xmlns:a16="http://schemas.microsoft.com/office/drawing/2014/main" id="{8FF39A35-16BA-A005-07F8-41DE9A3A2B9A}"/>
                  </a:ext>
                </a:extLst>
              </p:cNvPr>
              <p:cNvPicPr/>
              <p:nvPr/>
            </p:nvPicPr>
            <p:blipFill>
              <a:blip r:embed="rId4"/>
              <a:stretch>
                <a:fillRect/>
              </a:stretch>
            </p:blipFill>
            <p:spPr>
              <a:xfrm>
                <a:off x="6607920" y="1958280"/>
                <a:ext cx="203400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5D0C183E-529A-4014-AE6F-F82E0164388A}"/>
                  </a:ext>
                </a:extLst>
              </p14:cNvPr>
              <p14:cNvContentPartPr/>
              <p14:nvPr/>
            </p14:nvContentPartPr>
            <p14:xfrm>
              <a:off x="6475080" y="1939200"/>
              <a:ext cx="2251440" cy="210960"/>
            </p14:xfrm>
          </p:contentPart>
        </mc:Choice>
        <mc:Fallback>
          <p:pic>
            <p:nvPicPr>
              <p:cNvPr id="8" name="Ink 7">
                <a:extLst>
                  <a:ext uri="{FF2B5EF4-FFF2-40B4-BE49-F238E27FC236}">
                    <a16:creationId xmlns:a16="http://schemas.microsoft.com/office/drawing/2014/main" id="{5D0C183E-529A-4014-AE6F-F82E0164388A}"/>
                  </a:ext>
                </a:extLst>
              </p:cNvPr>
              <p:cNvPicPr/>
              <p:nvPr/>
            </p:nvPicPr>
            <p:blipFill>
              <a:blip r:embed="rId6"/>
              <a:stretch>
                <a:fillRect/>
              </a:stretch>
            </p:blipFill>
            <p:spPr>
              <a:xfrm>
                <a:off x="6457080" y="1921200"/>
                <a:ext cx="228708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64B5D0F3-902A-DAD2-4FEE-9E0F9A3D8238}"/>
                  </a:ext>
                </a:extLst>
              </p14:cNvPr>
              <p14:cNvContentPartPr/>
              <p14:nvPr/>
            </p14:nvContentPartPr>
            <p14:xfrm>
              <a:off x="6496320" y="1993200"/>
              <a:ext cx="2477880" cy="267120"/>
            </p14:xfrm>
          </p:contentPart>
        </mc:Choice>
        <mc:Fallback>
          <p:pic>
            <p:nvPicPr>
              <p:cNvPr id="10" name="Ink 9">
                <a:extLst>
                  <a:ext uri="{FF2B5EF4-FFF2-40B4-BE49-F238E27FC236}">
                    <a16:creationId xmlns:a16="http://schemas.microsoft.com/office/drawing/2014/main" id="{64B5D0F3-902A-DAD2-4FEE-9E0F9A3D8238}"/>
                  </a:ext>
                </a:extLst>
              </p:cNvPr>
              <p:cNvPicPr/>
              <p:nvPr/>
            </p:nvPicPr>
            <p:blipFill>
              <a:blip r:embed="rId8"/>
              <a:stretch>
                <a:fillRect/>
              </a:stretch>
            </p:blipFill>
            <p:spPr>
              <a:xfrm>
                <a:off x="6433320" y="1930560"/>
                <a:ext cx="2603520" cy="3927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8" name="Ink 17">
                <a:extLst>
                  <a:ext uri="{FF2B5EF4-FFF2-40B4-BE49-F238E27FC236}">
                    <a16:creationId xmlns:a16="http://schemas.microsoft.com/office/drawing/2014/main" id="{885256C5-38AF-DFB4-9FDA-E1F8A4FF4BB3}"/>
                  </a:ext>
                </a:extLst>
              </p14:cNvPr>
              <p14:cNvContentPartPr/>
              <p14:nvPr/>
            </p14:nvContentPartPr>
            <p14:xfrm>
              <a:off x="7834800" y="6308520"/>
              <a:ext cx="1797480" cy="291600"/>
            </p14:xfrm>
          </p:contentPart>
        </mc:Choice>
        <mc:Fallback>
          <p:pic>
            <p:nvPicPr>
              <p:cNvPr id="18" name="Ink 17">
                <a:extLst>
                  <a:ext uri="{FF2B5EF4-FFF2-40B4-BE49-F238E27FC236}">
                    <a16:creationId xmlns:a16="http://schemas.microsoft.com/office/drawing/2014/main" id="{885256C5-38AF-DFB4-9FDA-E1F8A4FF4BB3}"/>
                  </a:ext>
                </a:extLst>
              </p:cNvPr>
              <p:cNvPicPr/>
              <p:nvPr/>
            </p:nvPicPr>
            <p:blipFill>
              <a:blip r:embed="rId10"/>
              <a:stretch>
                <a:fillRect/>
              </a:stretch>
            </p:blipFill>
            <p:spPr>
              <a:xfrm>
                <a:off x="7772160" y="6245880"/>
                <a:ext cx="1923120" cy="417240"/>
              </a:xfrm>
              <a:prstGeom prst="rect">
                <a:avLst/>
              </a:prstGeom>
            </p:spPr>
          </p:pic>
        </mc:Fallback>
      </mc:AlternateContent>
      <p:grpSp>
        <p:nvGrpSpPr>
          <p:cNvPr id="21" name="Group 20">
            <a:extLst>
              <a:ext uri="{FF2B5EF4-FFF2-40B4-BE49-F238E27FC236}">
                <a16:creationId xmlns:a16="http://schemas.microsoft.com/office/drawing/2014/main" id="{E9367F3D-A84F-D2C4-7F7D-2F5C5F64AD52}"/>
              </a:ext>
            </a:extLst>
          </p:cNvPr>
          <p:cNvGrpSpPr/>
          <p:nvPr/>
        </p:nvGrpSpPr>
        <p:grpSpPr>
          <a:xfrm>
            <a:off x="7336200" y="6275400"/>
            <a:ext cx="2922840" cy="385560"/>
            <a:chOff x="7336200" y="6275400"/>
            <a:chExt cx="2922840" cy="385560"/>
          </a:xfrm>
        </p:grpSpPr>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C43C5E13-17D0-FBFC-C406-D36148978DD7}"/>
                    </a:ext>
                  </a:extLst>
                </p14:cNvPr>
                <p14:cNvContentPartPr/>
                <p14:nvPr/>
              </p14:nvContentPartPr>
              <p14:xfrm>
                <a:off x="7336200" y="6275400"/>
                <a:ext cx="2922840" cy="385560"/>
              </p14:xfrm>
            </p:contentPart>
          </mc:Choice>
          <mc:Fallback>
            <p:pic>
              <p:nvPicPr>
                <p:cNvPr id="11" name="Ink 10">
                  <a:extLst>
                    <a:ext uri="{FF2B5EF4-FFF2-40B4-BE49-F238E27FC236}">
                      <a16:creationId xmlns:a16="http://schemas.microsoft.com/office/drawing/2014/main" id="{C43C5E13-17D0-FBFC-C406-D36148978DD7}"/>
                    </a:ext>
                  </a:extLst>
                </p:cNvPr>
                <p:cNvPicPr/>
                <p:nvPr/>
              </p:nvPicPr>
              <p:blipFill>
                <a:blip r:embed="rId12"/>
                <a:stretch>
                  <a:fillRect/>
                </a:stretch>
              </p:blipFill>
              <p:spPr>
                <a:xfrm>
                  <a:off x="7273200" y="6212760"/>
                  <a:ext cx="3048480" cy="5112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2" name="Ink 11">
                  <a:extLst>
                    <a:ext uri="{FF2B5EF4-FFF2-40B4-BE49-F238E27FC236}">
                      <a16:creationId xmlns:a16="http://schemas.microsoft.com/office/drawing/2014/main" id="{FDE76FBC-08BC-EA09-C316-5B99D0B3629B}"/>
                    </a:ext>
                  </a:extLst>
                </p14:cNvPr>
                <p14:cNvContentPartPr/>
                <p14:nvPr/>
              </p14:nvContentPartPr>
              <p14:xfrm>
                <a:off x="7772520" y="6385200"/>
                <a:ext cx="360" cy="360"/>
              </p14:xfrm>
            </p:contentPart>
          </mc:Choice>
          <mc:Fallback>
            <p:pic>
              <p:nvPicPr>
                <p:cNvPr id="12" name="Ink 11">
                  <a:extLst>
                    <a:ext uri="{FF2B5EF4-FFF2-40B4-BE49-F238E27FC236}">
                      <a16:creationId xmlns:a16="http://schemas.microsoft.com/office/drawing/2014/main" id="{FDE76FBC-08BC-EA09-C316-5B99D0B3629B}"/>
                    </a:ext>
                  </a:extLst>
                </p:cNvPr>
                <p:cNvPicPr/>
                <p:nvPr/>
              </p:nvPicPr>
              <p:blipFill>
                <a:blip r:embed="rId14"/>
                <a:stretch>
                  <a:fillRect/>
                </a:stretch>
              </p:blipFill>
              <p:spPr>
                <a:xfrm>
                  <a:off x="7709520" y="63225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3" name="Ink 12">
                  <a:extLst>
                    <a:ext uri="{FF2B5EF4-FFF2-40B4-BE49-F238E27FC236}">
                      <a16:creationId xmlns:a16="http://schemas.microsoft.com/office/drawing/2014/main" id="{2F13F54D-1290-0F85-8171-9D1827244095}"/>
                    </a:ext>
                  </a:extLst>
                </p14:cNvPr>
                <p14:cNvContentPartPr/>
                <p14:nvPr/>
              </p14:nvContentPartPr>
              <p14:xfrm>
                <a:off x="7772520" y="6385200"/>
                <a:ext cx="360" cy="360"/>
              </p14:xfrm>
            </p:contentPart>
          </mc:Choice>
          <mc:Fallback>
            <p:pic>
              <p:nvPicPr>
                <p:cNvPr id="13" name="Ink 12">
                  <a:extLst>
                    <a:ext uri="{FF2B5EF4-FFF2-40B4-BE49-F238E27FC236}">
                      <a16:creationId xmlns:a16="http://schemas.microsoft.com/office/drawing/2014/main" id="{2F13F54D-1290-0F85-8171-9D1827244095}"/>
                    </a:ext>
                  </a:extLst>
                </p:cNvPr>
                <p:cNvPicPr/>
                <p:nvPr/>
              </p:nvPicPr>
              <p:blipFill>
                <a:blip r:embed="rId14"/>
                <a:stretch>
                  <a:fillRect/>
                </a:stretch>
              </p:blipFill>
              <p:spPr>
                <a:xfrm>
                  <a:off x="7709520" y="632256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5" name="Ink 14">
                  <a:extLst>
                    <a:ext uri="{FF2B5EF4-FFF2-40B4-BE49-F238E27FC236}">
                      <a16:creationId xmlns:a16="http://schemas.microsoft.com/office/drawing/2014/main" id="{8F9BDC7F-6CD7-535D-6B1D-1AB8A050979E}"/>
                    </a:ext>
                  </a:extLst>
                </p14:cNvPr>
                <p14:cNvContentPartPr/>
                <p14:nvPr/>
              </p14:nvContentPartPr>
              <p14:xfrm>
                <a:off x="7726440" y="6431280"/>
                <a:ext cx="360" cy="360"/>
              </p14:xfrm>
            </p:contentPart>
          </mc:Choice>
          <mc:Fallback>
            <p:pic>
              <p:nvPicPr>
                <p:cNvPr id="15" name="Ink 14">
                  <a:extLst>
                    <a:ext uri="{FF2B5EF4-FFF2-40B4-BE49-F238E27FC236}">
                      <a16:creationId xmlns:a16="http://schemas.microsoft.com/office/drawing/2014/main" id="{8F9BDC7F-6CD7-535D-6B1D-1AB8A050979E}"/>
                    </a:ext>
                  </a:extLst>
                </p:cNvPr>
                <p:cNvPicPr/>
                <p:nvPr/>
              </p:nvPicPr>
              <p:blipFill>
                <a:blip r:embed="rId14"/>
                <a:stretch>
                  <a:fillRect/>
                </a:stretch>
              </p:blipFill>
              <p:spPr>
                <a:xfrm>
                  <a:off x="7663440" y="636864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 name="Ink 16">
                  <a:extLst>
                    <a:ext uri="{FF2B5EF4-FFF2-40B4-BE49-F238E27FC236}">
                      <a16:creationId xmlns:a16="http://schemas.microsoft.com/office/drawing/2014/main" id="{7B60ECD0-2819-DA76-216A-390067D39236}"/>
                    </a:ext>
                  </a:extLst>
                </p14:cNvPr>
                <p14:cNvContentPartPr/>
                <p14:nvPr/>
              </p14:nvContentPartPr>
              <p14:xfrm>
                <a:off x="8961240" y="6537840"/>
                <a:ext cx="360" cy="360"/>
              </p14:xfrm>
            </p:contentPart>
          </mc:Choice>
          <mc:Fallback>
            <p:pic>
              <p:nvPicPr>
                <p:cNvPr id="17" name="Ink 16">
                  <a:extLst>
                    <a:ext uri="{FF2B5EF4-FFF2-40B4-BE49-F238E27FC236}">
                      <a16:creationId xmlns:a16="http://schemas.microsoft.com/office/drawing/2014/main" id="{7B60ECD0-2819-DA76-216A-390067D39236}"/>
                    </a:ext>
                  </a:extLst>
                </p:cNvPr>
                <p:cNvPicPr/>
                <p:nvPr/>
              </p:nvPicPr>
              <p:blipFill>
                <a:blip r:embed="rId14"/>
                <a:stretch>
                  <a:fillRect/>
                </a:stretch>
              </p:blipFill>
              <p:spPr>
                <a:xfrm>
                  <a:off x="8898240" y="6475200"/>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20" name="Ink 19">
                  <a:extLst>
                    <a:ext uri="{FF2B5EF4-FFF2-40B4-BE49-F238E27FC236}">
                      <a16:creationId xmlns:a16="http://schemas.microsoft.com/office/drawing/2014/main" id="{144086C1-2002-E39D-3F09-9C3F1C311147}"/>
                    </a:ext>
                  </a:extLst>
                </p14:cNvPr>
                <p14:cNvContentPartPr/>
                <p14:nvPr/>
              </p14:nvContentPartPr>
              <p14:xfrm>
                <a:off x="7696200" y="6385200"/>
                <a:ext cx="360" cy="360"/>
              </p14:xfrm>
            </p:contentPart>
          </mc:Choice>
          <mc:Fallback>
            <p:pic>
              <p:nvPicPr>
                <p:cNvPr id="20" name="Ink 19">
                  <a:extLst>
                    <a:ext uri="{FF2B5EF4-FFF2-40B4-BE49-F238E27FC236}">
                      <a16:creationId xmlns:a16="http://schemas.microsoft.com/office/drawing/2014/main" id="{144086C1-2002-E39D-3F09-9C3F1C311147}"/>
                    </a:ext>
                  </a:extLst>
                </p:cNvPr>
                <p:cNvPicPr/>
                <p:nvPr/>
              </p:nvPicPr>
              <p:blipFill>
                <a:blip r:embed="rId14"/>
                <a:stretch>
                  <a:fillRect/>
                </a:stretch>
              </p:blipFill>
              <p:spPr>
                <a:xfrm>
                  <a:off x="7633200" y="6322560"/>
                  <a:ext cx="126000" cy="126000"/>
                </a:xfrm>
                <a:prstGeom prst="rect">
                  <a:avLst/>
                </a:prstGeom>
              </p:spPr>
            </p:pic>
          </mc:Fallback>
        </mc:AlternateContent>
      </p:grpSp>
    </p:spTree>
    <p:extLst>
      <p:ext uri="{BB962C8B-B14F-4D97-AF65-F5344CB8AC3E}">
        <p14:creationId xmlns:p14="http://schemas.microsoft.com/office/powerpoint/2010/main" val="4037740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6AC2-6F36-7F21-3C3E-9C8E025303F0}"/>
              </a:ext>
            </a:extLst>
          </p:cNvPr>
          <p:cNvSpPr>
            <a:spLocks noGrp="1"/>
          </p:cNvSpPr>
          <p:nvPr>
            <p:ph type="title"/>
          </p:nvPr>
        </p:nvSpPr>
        <p:spPr>
          <a:xfrm>
            <a:off x="677906" y="606297"/>
            <a:ext cx="11056893" cy="546303"/>
          </a:xfrm>
        </p:spPr>
        <p:txBody>
          <a:bodyPr/>
          <a:lstStyle/>
          <a:p>
            <a:r>
              <a:rPr lang="en-US" b="1" u="sng" dirty="0">
                <a:latin typeface="Times New Roman" panose="02020603050405020304" pitchFamily="18" charset="0"/>
                <a:cs typeface="Times New Roman" panose="02020603050405020304" pitchFamily="18" charset="0"/>
              </a:rPr>
              <a:t>Implementation</a:t>
            </a:r>
            <a:r>
              <a:rPr lang="en-US" b="1"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47A5B68-B5F0-44FA-7923-0C555DF28B75}"/>
              </a:ext>
            </a:extLst>
          </p:cNvPr>
          <p:cNvSpPr>
            <a:spLocks noGrp="1"/>
          </p:cNvSpPr>
          <p:nvPr>
            <p:ph type="body" idx="1"/>
          </p:nvPr>
        </p:nvSpPr>
        <p:spPr>
          <a:xfrm>
            <a:off x="677906" y="1866900"/>
            <a:ext cx="17000494" cy="5909310"/>
          </a:xfrm>
        </p:spPr>
        <p:txBody>
          <a:bodyPr/>
          <a:lstStyle/>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Fully Functional Admin, Customer, and Kitchen portals.</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Admin can securely log in to a dedicated dashboard.</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Admin can add new </a:t>
            </a:r>
            <a:r>
              <a:rPr lang="en-US" sz="2800" dirty="0" err="1">
                <a:latin typeface="Times New Roman" panose="02020603050405020304" pitchFamily="18" charset="0"/>
                <a:cs typeface="Times New Roman" panose="02020603050405020304" pitchFamily="18" charset="0"/>
              </a:rPr>
              <a:t>items,delete</a:t>
            </a:r>
            <a:r>
              <a:rPr lang="en-US" sz="2800" dirty="0">
                <a:latin typeface="Times New Roman" panose="02020603050405020304" pitchFamily="18" charset="0"/>
                <a:cs typeface="Times New Roman" panose="02020603050405020304" pitchFamily="18" charset="0"/>
              </a:rPr>
              <a:t> existing items, view and manage all incoming orders from customers.</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Customer can register for a new account and login via a existing account.</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Customer can browse the full menu, add items to a cart, and place a final order.</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Customer can view their own personal order history and check order status.</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Kitchen can login to a separate portal to view a live feed of pending order.</a:t>
            </a:r>
          </a:p>
          <a:p>
            <a:pPr marL="457200" indent="-457200" algn="just">
              <a:lnSpc>
                <a:spcPct val="150000"/>
              </a:lnSpc>
              <a:buAutoNum type="arabicPeriod"/>
            </a:pPr>
            <a:r>
              <a:rPr lang="en-US" sz="2800" dirty="0">
                <a:latin typeface="Times New Roman" panose="02020603050405020304" pitchFamily="18" charset="0"/>
                <a:cs typeface="Times New Roman" panose="02020603050405020304" pitchFamily="18" charset="0"/>
              </a:rPr>
              <a:t>Kitchen can mark order as “Completed”, removing them from the live feed.</a:t>
            </a:r>
          </a:p>
          <a:p>
            <a:endParaRPr lang="en-US" sz="2400" dirty="0">
              <a:latin typeface="Times New Roman" panose="02020603050405020304" pitchFamily="18" charset="0"/>
              <a:cs typeface="Times New Roman" panose="02020603050405020304" pitchFamily="18" charset="0"/>
            </a:endParaRPr>
          </a:p>
          <a:p>
            <a:pPr marL="457200" indent="-457200">
              <a:buAutoNum type="arabicPeriod"/>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0008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94244" y="1104900"/>
            <a:ext cx="2217693" cy="536044"/>
          </a:xfrm>
          <a:prstGeom prst="rect">
            <a:avLst/>
          </a:prstGeom>
        </p:spPr>
        <p:txBody>
          <a:bodyPr vert="horz" wrap="square" lIns="0" tIns="12700" rIns="0" bIns="0" rtlCol="0">
            <a:spAutoFit/>
          </a:bodyPr>
          <a:lstStyle/>
          <a:p>
            <a:pPr marL="12700" algn="l">
              <a:lnSpc>
                <a:spcPct val="100000"/>
              </a:lnSpc>
              <a:spcBef>
                <a:spcPts val="100"/>
              </a:spcBef>
            </a:pPr>
            <a:r>
              <a:rPr sz="3400" b="1" u="sng" spc="-170" dirty="0">
                <a:latin typeface="Times New Roman" panose="02020603050405020304" pitchFamily="18" charset="0"/>
                <a:cs typeface="Times New Roman" panose="02020603050405020304" pitchFamily="18" charset="0"/>
              </a:rPr>
              <a:t>References</a:t>
            </a:r>
            <a:r>
              <a:rPr lang="en-US" sz="3400" b="1" u="sng" spc="30" dirty="0">
                <a:latin typeface="Times New Roman" panose="02020603050405020304" pitchFamily="18" charset="0"/>
                <a:cs typeface="Times New Roman" panose="02020603050405020304" pitchFamily="18" charset="0"/>
              </a:rPr>
              <a:t>:-</a:t>
            </a:r>
            <a:endParaRPr sz="3400" i="1" spc="-490" dirty="0">
              <a:latin typeface="Calibri" panose="020F0502020204030204"/>
              <a:cs typeface="Calibri" panose="020F0502020204030204"/>
            </a:endParaRPr>
          </a:p>
        </p:txBody>
      </p:sp>
      <p:sp>
        <p:nvSpPr>
          <p:cNvPr id="3" name="object 3"/>
          <p:cNvSpPr txBox="1"/>
          <p:nvPr/>
        </p:nvSpPr>
        <p:spPr>
          <a:xfrm>
            <a:off x="1694244" y="2808556"/>
            <a:ext cx="13375511" cy="1102225"/>
          </a:xfrm>
          <a:prstGeom prst="rect">
            <a:avLst/>
          </a:prstGeom>
        </p:spPr>
        <p:txBody>
          <a:bodyPr vert="horz" wrap="square" lIns="0" tIns="62865" rIns="0" bIns="0" rtlCol="0">
            <a:spAutoFit/>
          </a:bodyPr>
          <a:lstStyle/>
          <a:p>
            <a:pPr marL="3175" marR="5080" algn="l" rtl="0">
              <a:lnSpc>
                <a:spcPts val="2690"/>
              </a:lnSpc>
              <a:spcBef>
                <a:spcPts val="495"/>
              </a:spcBef>
              <a:buSzPct val="90000"/>
              <a:tabLst>
                <a:tab pos="278130" algn="l"/>
              </a:tabLst>
            </a:pPr>
            <a:r>
              <a:rPr lang="en-IN" sz="2400" b="1" dirty="0">
                <a:latin typeface="Times New Roman" panose="02020603050405020304" pitchFamily="18" charset="0"/>
                <a:cs typeface="Times New Roman" panose="02020603050405020304" pitchFamily="18" charset="0"/>
              </a:rPr>
              <a:t>[1]</a:t>
            </a:r>
            <a:r>
              <a:rPr lang="en-IN" sz="2400" dirty="0">
                <a:latin typeface="Times New Roman" panose="02020603050405020304" pitchFamily="18" charset="0"/>
                <a:cs typeface="Times New Roman" panose="02020603050405020304" pitchFamily="18" charset="0"/>
              </a:rPr>
              <a:t> I. B. Bhattarai, A. Bhandari, and S. Joshi, </a:t>
            </a:r>
            <a:r>
              <a:rPr lang="en-IN" sz="2400" b="1" dirty="0">
                <a:latin typeface="Times New Roman" panose="02020603050405020304" pitchFamily="18" charset="0"/>
                <a:cs typeface="Times New Roman" panose="02020603050405020304" pitchFamily="18" charset="0"/>
              </a:rPr>
              <a:t>“QR-based Canteen Management System,” </a:t>
            </a:r>
            <a:r>
              <a:rPr lang="en-IN" sz="2400" i="1" dirty="0">
                <a:latin typeface="Times New Roman" panose="02020603050405020304" pitchFamily="18" charset="0"/>
                <a:cs typeface="Times New Roman" panose="02020603050405020304" pitchFamily="18" charset="0"/>
              </a:rPr>
              <a:t>International Research Journal of Engineering and Technology (IRJET)</a:t>
            </a:r>
            <a:r>
              <a:rPr lang="en-IN" sz="2400" dirty="0">
                <a:latin typeface="Times New Roman" panose="02020603050405020304" pitchFamily="18" charset="0"/>
                <a:cs typeface="Times New Roman" panose="02020603050405020304" pitchFamily="18" charset="0"/>
              </a:rPr>
              <a:t>, vol. 11, no. 3, pp. 1–6, Mar. 2024. [Online]. Available: </a:t>
            </a:r>
            <a:r>
              <a:rPr lang="en-IN" sz="2400" dirty="0">
                <a:latin typeface="Times New Roman" panose="02020603050405020304" pitchFamily="18" charset="0"/>
                <a:cs typeface="Times New Roman" panose="02020603050405020304" pitchFamily="18" charset="0"/>
                <a:hlinkClick r:id="rId2"/>
              </a:rPr>
              <a:t>https://irojournals.com/itdw/article/view/6/3/1</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CE1D9C2-2928-4B97-167D-127FA09BBE1C}"/>
              </a:ext>
            </a:extLst>
          </p:cNvPr>
          <p:cNvSpPr txBox="1"/>
          <p:nvPr/>
        </p:nvSpPr>
        <p:spPr>
          <a:xfrm>
            <a:off x="1640712" y="4606094"/>
            <a:ext cx="13411200" cy="1569660"/>
          </a:xfrm>
          <a:prstGeom prst="rect">
            <a:avLst/>
          </a:prstGeom>
          <a:noFill/>
        </p:spPr>
        <p:txBody>
          <a:bodyPr wrap="square" rtlCol="0">
            <a:spAutoFit/>
          </a:bodyPr>
          <a:lstStyle/>
          <a:p>
            <a:pPr algn="l"/>
            <a:r>
              <a:rPr lang="en-IN" sz="2400" b="1" dirty="0">
                <a:latin typeface="Times New Roman" panose="02020603050405020304" pitchFamily="18" charset="0"/>
                <a:cs typeface="Times New Roman" panose="02020603050405020304" pitchFamily="18" charset="0"/>
              </a:rPr>
              <a:t>[2]</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 </a:t>
            </a:r>
            <a:r>
              <a:rPr lang="en-US" sz="2400" dirty="0" err="1">
                <a:latin typeface="Times New Roman" panose="02020603050405020304" pitchFamily="18" charset="0"/>
                <a:cs typeface="Times New Roman" panose="02020603050405020304" pitchFamily="18" charset="0"/>
              </a:rPr>
              <a:t>Auti</a:t>
            </a:r>
            <a:r>
              <a:rPr lang="en-US" sz="2400" dirty="0">
                <a:latin typeface="Times New Roman" panose="02020603050405020304" pitchFamily="18" charset="0"/>
                <a:cs typeface="Times New Roman" panose="02020603050405020304" pitchFamily="18" charset="0"/>
              </a:rPr>
              <a:t>, M. </a:t>
            </a:r>
            <a:r>
              <a:rPr lang="en-US" sz="2400" dirty="0" err="1">
                <a:latin typeface="Times New Roman" panose="02020603050405020304" pitchFamily="18" charset="0"/>
                <a:cs typeface="Times New Roman" panose="02020603050405020304" pitchFamily="18" charset="0"/>
              </a:rPr>
              <a:t>Bawankar</a:t>
            </a:r>
            <a:r>
              <a:rPr lang="en-US" sz="2400" dirty="0">
                <a:latin typeface="Times New Roman" panose="02020603050405020304" pitchFamily="18" charset="0"/>
                <a:cs typeface="Times New Roman" panose="02020603050405020304" pitchFamily="18" charset="0"/>
              </a:rPr>
              <a:t>, and P. </a:t>
            </a:r>
            <a:r>
              <a:rPr lang="en-US" sz="2400" dirty="0" err="1">
                <a:latin typeface="Times New Roman" panose="02020603050405020304" pitchFamily="18" charset="0"/>
                <a:cs typeface="Times New Roman" panose="02020603050405020304" pitchFamily="18" charset="0"/>
              </a:rPr>
              <a:t>Bochare</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“A Review on Smart Canteen Management System,” </a:t>
            </a:r>
            <a:r>
              <a:rPr lang="en-US" sz="2400" i="1" dirty="0">
                <a:latin typeface="Times New Roman" panose="02020603050405020304" pitchFamily="18" charset="0"/>
                <a:cs typeface="Times New Roman" panose="02020603050405020304" pitchFamily="18" charset="0"/>
              </a:rPr>
              <a:t>International Journal for Research in Applied Science &amp; Engineering Technology (IJRASET)</a:t>
            </a:r>
            <a:r>
              <a:rPr lang="en-US" sz="2400" dirty="0">
                <a:latin typeface="Times New Roman" panose="02020603050405020304" pitchFamily="18" charset="0"/>
                <a:cs typeface="Times New Roman" panose="02020603050405020304" pitchFamily="18" charset="0"/>
              </a:rPr>
              <a:t>, vol. 11, no. 5, pp. 1–5, May 2023. [Online]. Available: </a:t>
            </a:r>
            <a:r>
              <a:rPr lang="en-US" sz="2400" dirty="0">
                <a:latin typeface="Times New Roman" panose="02020603050405020304" pitchFamily="18" charset="0"/>
                <a:cs typeface="Times New Roman" panose="02020603050405020304" pitchFamily="18" charset="0"/>
                <a:hlinkClick r:id="rId3"/>
              </a:rPr>
              <a:t>https://www.ijraset.com/research-paper/a-review-on-smart-canteen-management-system</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E98FE4F-67C4-13F1-408F-DC86F4D00901}"/>
              </a:ext>
            </a:extLst>
          </p:cNvPr>
          <p:cNvSpPr txBox="1"/>
          <p:nvPr/>
        </p:nvSpPr>
        <p:spPr>
          <a:xfrm>
            <a:off x="1640712" y="6409403"/>
            <a:ext cx="13375512" cy="1538883"/>
          </a:xfrm>
          <a:prstGeom prst="rect">
            <a:avLst/>
          </a:prstGeom>
          <a:noFill/>
        </p:spPr>
        <p:txBody>
          <a:bodyPr wrap="square" rtlCol="0">
            <a:spAutoFit/>
          </a:bodyPr>
          <a:lstStyle/>
          <a:p>
            <a:pPr algn="l"/>
            <a:r>
              <a:rPr lang="en-US" sz="2400" b="1"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 C. Antony, </a:t>
            </a:r>
            <a:r>
              <a:rPr lang="en-US" sz="2400" b="1" dirty="0">
                <a:latin typeface="Times New Roman" panose="02020603050405020304" pitchFamily="18" charset="0"/>
                <a:cs typeface="Times New Roman" panose="02020603050405020304" pitchFamily="18" charset="0"/>
              </a:rPr>
              <a:t>“Canteen Food Ordering and Managing System,” </a:t>
            </a:r>
            <a:r>
              <a:rPr lang="en-US" sz="2400" i="1" dirty="0">
                <a:latin typeface="Times New Roman" panose="02020603050405020304" pitchFamily="18" charset="0"/>
                <a:cs typeface="Times New Roman" panose="02020603050405020304" pitchFamily="18" charset="0"/>
              </a:rPr>
              <a:t>ResearchGate</a:t>
            </a:r>
            <a:r>
              <a:rPr lang="en-US" sz="2400" dirty="0">
                <a:latin typeface="Times New Roman" panose="02020603050405020304" pitchFamily="18" charset="0"/>
                <a:cs typeface="Times New Roman" panose="02020603050405020304" pitchFamily="18" charset="0"/>
              </a:rPr>
              <a:t>, 2022. [Online]. Available: </a:t>
            </a:r>
            <a:r>
              <a:rPr lang="en-US" sz="2400" dirty="0">
                <a:latin typeface="Times New Roman" panose="02020603050405020304" pitchFamily="18" charset="0"/>
                <a:cs typeface="Times New Roman" panose="02020603050405020304" pitchFamily="18" charset="0"/>
                <a:hlinkClick r:id="rId4"/>
              </a:rPr>
              <a:t>https://www.researchgate.net/publication/361630088_Canteen_Food_Ordering_and_Managing_System</a:t>
            </a:r>
            <a:endParaRPr lang="en-US" sz="2400" dirty="0">
              <a:latin typeface="Times New Roman" panose="02020603050405020304" pitchFamily="18" charset="0"/>
              <a:cs typeface="Times New Roman" panose="02020603050405020304" pitchFamily="18" charset="0"/>
            </a:endParaRPr>
          </a:p>
          <a:p>
            <a:pPr algn="l"/>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3581</TotalTime>
  <Words>1029</Words>
  <Application>Microsoft Office PowerPoint</Application>
  <PresentationFormat>Custom</PresentationFormat>
  <Paragraphs>69</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Mini Project (B C S 554)Presentation</vt:lpstr>
      <vt:lpstr>Problem Statement:-</vt:lpstr>
      <vt:lpstr> Project Objective:-</vt:lpstr>
      <vt:lpstr>Literature Survey:-</vt:lpstr>
      <vt:lpstr>Technical details:-</vt:lpstr>
      <vt:lpstr>Methodology:-</vt:lpstr>
      <vt:lpstr>PowerPoint Presentation</vt:lpstr>
      <vt:lpstr>Implementation: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Nini Project (BCS 554)Presentation</dc:title>
  <dc:creator>Kishan Sharma;Jesvin Cherian</dc:creator>
  <cp:keywords>DAG1OE97CQU,BAGWz8bHqMg,0</cp:keywords>
  <cp:lastModifiedBy>mohd sohail</cp:lastModifiedBy>
  <cp:revision>8</cp:revision>
  <cp:lastPrinted>2025-10-12T06:01:54Z</cp:lastPrinted>
  <dcterms:created xsi:type="dcterms:W3CDTF">2025-10-10T04:56:13Z</dcterms:created>
  <dcterms:modified xsi:type="dcterms:W3CDTF">2025-11-10T09:11:28Z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2025-10-10T05:30:00Z</vt:filetime>
  </property>
  <property fmtid="{D5CDD505-2E9C-101B-9397-08002B2CF9AE}" pid="3" name="Creator">
    <vt:lpwstr>Canva</vt:lpwstr>
  </property>
  <property fmtid="{D5CDD505-2E9C-101B-9397-08002B2CF9AE}" pid="4" name="Producer">
    <vt:lpwstr>Canva</vt:lpwstr>
  </property>
  <property fmtid="{D5CDD505-2E9C-101B-9397-08002B2CF9AE}" pid="5" name="LastSaved">
    <vt:filetime>2025-10-10T05:30:00Z</vt:filetime>
  </property>
  <property fmtid="{D5CDD505-2E9C-101B-9397-08002B2CF9AE}" pid="6" name="ICV">
    <vt:lpwstr>9EF6A21C54084D52875964EC9811E3B4_13</vt:lpwstr>
  </property>
  <property fmtid="{D5CDD505-2E9C-101B-9397-08002B2CF9AE}" pid="7" name="KSOProductBuildVer">
    <vt:lpwstr>1033-12.2.0.22549</vt:lpwstr>
  </property>
</Properties>
</file>